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76" r:id="rId5"/>
    <p:sldId id="277" r:id="rId6"/>
    <p:sldId id="278" r:id="rId7"/>
    <p:sldId id="279" r:id="rId8"/>
    <p:sldId id="280" r:id="rId9"/>
    <p:sldId id="259"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6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mes" userId="42ed6fb6-03df-44fa-ad94-6bcf829c2de6" providerId="ADAL" clId="{8B81AD61-0786-41DB-B759-B91AD03B53BF}"/>
    <pc:docChg chg="custSel delSld modSld">
      <pc:chgData name="Peter James" userId="42ed6fb6-03df-44fa-ad94-6bcf829c2de6" providerId="ADAL" clId="{8B81AD61-0786-41DB-B759-B91AD03B53BF}" dt="2023-02-20T13:04:29.079" v="5"/>
      <pc:docMkLst>
        <pc:docMk/>
      </pc:docMkLst>
      <pc:sldChg chg="modSp mod">
        <pc:chgData name="Peter James" userId="42ed6fb6-03df-44fa-ad94-6bcf829c2de6" providerId="ADAL" clId="{8B81AD61-0786-41DB-B759-B91AD03B53BF}" dt="2023-02-20T13:04:21.316" v="3" actId="27636"/>
        <pc:sldMkLst>
          <pc:docMk/>
          <pc:sldMk cId="3968291069" sldId="264"/>
        </pc:sldMkLst>
        <pc:spChg chg="mod">
          <ac:chgData name="Peter James" userId="42ed6fb6-03df-44fa-ad94-6bcf829c2de6" providerId="ADAL" clId="{8B81AD61-0786-41DB-B759-B91AD03B53BF}" dt="2023-02-20T13:04:21.316" v="3" actId="27636"/>
          <ac:spMkLst>
            <pc:docMk/>
            <pc:sldMk cId="3968291069" sldId="264"/>
            <ac:spMk id="2" creationId="{12DD716C-E1C3-0344-B0F3-4538A8C52A55}"/>
          </ac:spMkLst>
        </pc:spChg>
        <pc:spChg chg="mod">
          <ac:chgData name="Peter James" userId="42ed6fb6-03df-44fa-ad94-6bcf829c2de6" providerId="ADAL" clId="{8B81AD61-0786-41DB-B759-B91AD03B53BF}" dt="2023-02-20T13:04:19.950" v="1" actId="21"/>
          <ac:spMkLst>
            <pc:docMk/>
            <pc:sldMk cId="3968291069" sldId="264"/>
            <ac:spMk id="3" creationId="{4A9D2A74-0AD2-FBD9-FDDF-8F240D411958}"/>
          </ac:spMkLst>
        </pc:spChg>
      </pc:sldChg>
      <pc:sldChg chg="modSp mod">
        <pc:chgData name="Peter James" userId="42ed6fb6-03df-44fa-ad94-6bcf829c2de6" providerId="ADAL" clId="{8B81AD61-0786-41DB-B759-B91AD03B53BF}" dt="2023-02-20T13:04:29.079" v="5"/>
        <pc:sldMkLst>
          <pc:docMk/>
          <pc:sldMk cId="607445658" sldId="266"/>
        </pc:sldMkLst>
        <pc:spChg chg="mod">
          <ac:chgData name="Peter James" userId="42ed6fb6-03df-44fa-ad94-6bcf829c2de6" providerId="ADAL" clId="{8B81AD61-0786-41DB-B759-B91AD03B53BF}" dt="2023-02-20T13:04:29.079" v="5"/>
          <ac:spMkLst>
            <pc:docMk/>
            <pc:sldMk cId="607445658" sldId="266"/>
            <ac:spMk id="2" creationId="{6D436B90-438B-0E08-B86F-2F5E39D8CF17}"/>
          </ac:spMkLst>
        </pc:spChg>
        <pc:spChg chg="mod">
          <ac:chgData name="Peter James" userId="42ed6fb6-03df-44fa-ad94-6bcf829c2de6" providerId="ADAL" clId="{8B81AD61-0786-41DB-B759-B91AD03B53BF}" dt="2023-02-20T13:04:27.853" v="4" actId="21"/>
          <ac:spMkLst>
            <pc:docMk/>
            <pc:sldMk cId="607445658" sldId="266"/>
            <ac:spMk id="3" creationId="{5F4D926A-1D74-58FD-44AB-16780BB1D031}"/>
          </ac:spMkLst>
        </pc:spChg>
      </pc:sldChg>
      <pc:sldChg chg="del">
        <pc:chgData name="Peter James" userId="42ed6fb6-03df-44fa-ad94-6bcf829c2de6" providerId="ADAL" clId="{8B81AD61-0786-41DB-B759-B91AD03B53BF}" dt="2023-02-20T12:43:45.017" v="0" actId="47"/>
        <pc:sldMkLst>
          <pc:docMk/>
          <pc:sldMk cId="1939880003" sldId="27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F01636-E772-49F4-8FE7-969B7D5CC9F8}"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FC6BC27-DFCC-43D6-BA32-2A0545220236}">
      <dgm:prSet/>
      <dgm:spPr/>
      <dgm:t>
        <a:bodyPr/>
        <a:lstStyle/>
        <a:p>
          <a:r>
            <a:rPr lang="en-GB" dirty="0"/>
            <a:t>Empathy is the ability to emotionally understand what other people feel, see things from their point of view, and imagine yourself in their place. Essentially, it is putting yourself in someone else's position and feeling what they are feeling. – verywellmind.com</a:t>
          </a:r>
          <a:endParaRPr lang="en-US" dirty="0"/>
        </a:p>
      </dgm:t>
    </dgm:pt>
    <dgm:pt modelId="{74DF05FB-7F89-451D-87A6-937A37E194B5}" type="parTrans" cxnId="{BC0C8A91-467C-49C7-AAAC-BE1D2612E885}">
      <dgm:prSet/>
      <dgm:spPr/>
      <dgm:t>
        <a:bodyPr/>
        <a:lstStyle/>
        <a:p>
          <a:endParaRPr lang="en-US"/>
        </a:p>
      </dgm:t>
    </dgm:pt>
    <dgm:pt modelId="{F9F7D389-2F2C-48C3-A8DE-94D53352C8A8}" type="sibTrans" cxnId="{BC0C8A91-467C-49C7-AAAC-BE1D2612E885}">
      <dgm:prSet/>
      <dgm:spPr/>
      <dgm:t>
        <a:bodyPr/>
        <a:lstStyle/>
        <a:p>
          <a:endParaRPr lang="en-US"/>
        </a:p>
      </dgm:t>
    </dgm:pt>
    <dgm:pt modelId="{6C567417-51A1-4D7F-B5F1-7BE6F9014B1D}">
      <dgm:prSet/>
      <dgm:spPr/>
      <dgm:t>
        <a:bodyPr/>
        <a:lstStyle/>
        <a:p>
          <a:r>
            <a:rPr lang="en-GB" b="0" i="0" dirty="0"/>
            <a:t>"the action of understanding, being aware of, being sensitive to, and vicariously experiencing the feelings, thoughts, and experience of another.“ - Merriam-Webster</a:t>
          </a:r>
          <a:endParaRPr lang="en-US" dirty="0"/>
        </a:p>
      </dgm:t>
    </dgm:pt>
    <dgm:pt modelId="{FE9CABB6-82D3-4E57-96BF-E56DB024A03C}" type="parTrans" cxnId="{5B02E2EC-5067-402E-898D-4631CE241B6B}">
      <dgm:prSet/>
      <dgm:spPr/>
      <dgm:t>
        <a:bodyPr/>
        <a:lstStyle/>
        <a:p>
          <a:endParaRPr lang="en-US"/>
        </a:p>
      </dgm:t>
    </dgm:pt>
    <dgm:pt modelId="{7204D215-E6BD-4C4C-B747-C3298246EE8F}" type="sibTrans" cxnId="{5B02E2EC-5067-402E-898D-4631CE241B6B}">
      <dgm:prSet/>
      <dgm:spPr/>
      <dgm:t>
        <a:bodyPr/>
        <a:lstStyle/>
        <a:p>
          <a:endParaRPr lang="en-US"/>
        </a:p>
      </dgm:t>
    </dgm:pt>
    <dgm:pt modelId="{490C1932-6B04-4A85-9486-67F5145B7284}" type="pres">
      <dgm:prSet presAssocID="{AEF01636-E772-49F4-8FE7-969B7D5CC9F8}" presName="hierChild1" presStyleCnt="0">
        <dgm:presLayoutVars>
          <dgm:chPref val="1"/>
          <dgm:dir/>
          <dgm:animOne val="branch"/>
          <dgm:animLvl val="lvl"/>
          <dgm:resizeHandles/>
        </dgm:presLayoutVars>
      </dgm:prSet>
      <dgm:spPr/>
    </dgm:pt>
    <dgm:pt modelId="{4AE8E843-FEEF-4942-B150-D559A8511ABF}" type="pres">
      <dgm:prSet presAssocID="{7FC6BC27-DFCC-43D6-BA32-2A0545220236}" presName="hierRoot1" presStyleCnt="0"/>
      <dgm:spPr/>
    </dgm:pt>
    <dgm:pt modelId="{CEDAE590-0B68-49FB-A8EF-CE9D50CAD332}" type="pres">
      <dgm:prSet presAssocID="{7FC6BC27-DFCC-43D6-BA32-2A0545220236}" presName="composite" presStyleCnt="0"/>
      <dgm:spPr/>
    </dgm:pt>
    <dgm:pt modelId="{97CEC771-82F6-4DB5-A212-FE10E09BA989}" type="pres">
      <dgm:prSet presAssocID="{7FC6BC27-DFCC-43D6-BA32-2A0545220236}" presName="background" presStyleLbl="node0" presStyleIdx="0" presStyleCnt="2"/>
      <dgm:spPr/>
    </dgm:pt>
    <dgm:pt modelId="{116CF4A5-E74D-4C03-A888-EBBAF0E861C2}" type="pres">
      <dgm:prSet presAssocID="{7FC6BC27-DFCC-43D6-BA32-2A0545220236}" presName="text" presStyleLbl="fgAcc0" presStyleIdx="0" presStyleCnt="2">
        <dgm:presLayoutVars>
          <dgm:chPref val="3"/>
        </dgm:presLayoutVars>
      </dgm:prSet>
      <dgm:spPr/>
    </dgm:pt>
    <dgm:pt modelId="{D6D8834A-AF6E-4389-A4C0-DBF5860AA407}" type="pres">
      <dgm:prSet presAssocID="{7FC6BC27-DFCC-43D6-BA32-2A0545220236}" presName="hierChild2" presStyleCnt="0"/>
      <dgm:spPr/>
    </dgm:pt>
    <dgm:pt modelId="{929B0B36-62ED-4EEE-AF00-BAB4B62DBF8D}" type="pres">
      <dgm:prSet presAssocID="{6C567417-51A1-4D7F-B5F1-7BE6F9014B1D}" presName="hierRoot1" presStyleCnt="0"/>
      <dgm:spPr/>
    </dgm:pt>
    <dgm:pt modelId="{A24DDF13-6BBC-4213-B58C-ACE653740AA6}" type="pres">
      <dgm:prSet presAssocID="{6C567417-51A1-4D7F-B5F1-7BE6F9014B1D}" presName="composite" presStyleCnt="0"/>
      <dgm:spPr/>
    </dgm:pt>
    <dgm:pt modelId="{7A1B266E-9E6A-4FB7-8232-C500F387C0AF}" type="pres">
      <dgm:prSet presAssocID="{6C567417-51A1-4D7F-B5F1-7BE6F9014B1D}" presName="background" presStyleLbl="node0" presStyleIdx="1" presStyleCnt="2"/>
      <dgm:spPr/>
    </dgm:pt>
    <dgm:pt modelId="{FCFD081D-E361-4F6B-A66B-B7A6F9F63CB5}" type="pres">
      <dgm:prSet presAssocID="{6C567417-51A1-4D7F-B5F1-7BE6F9014B1D}" presName="text" presStyleLbl="fgAcc0" presStyleIdx="1" presStyleCnt="2">
        <dgm:presLayoutVars>
          <dgm:chPref val="3"/>
        </dgm:presLayoutVars>
      </dgm:prSet>
      <dgm:spPr/>
    </dgm:pt>
    <dgm:pt modelId="{186A59A6-96E7-4B5B-AA97-2D99E1C83C1C}" type="pres">
      <dgm:prSet presAssocID="{6C567417-51A1-4D7F-B5F1-7BE6F9014B1D}" presName="hierChild2" presStyleCnt="0"/>
      <dgm:spPr/>
    </dgm:pt>
  </dgm:ptLst>
  <dgm:cxnLst>
    <dgm:cxn modelId="{981C7440-3A60-479C-864D-0BA0E1EE64D2}" type="presOf" srcId="{6C567417-51A1-4D7F-B5F1-7BE6F9014B1D}" destId="{FCFD081D-E361-4F6B-A66B-B7A6F9F63CB5}" srcOrd="0" destOrd="0" presId="urn:microsoft.com/office/officeart/2005/8/layout/hierarchy1"/>
    <dgm:cxn modelId="{455CCA56-B3C6-4622-B24D-097B2D42A215}" type="presOf" srcId="{7FC6BC27-DFCC-43D6-BA32-2A0545220236}" destId="{116CF4A5-E74D-4C03-A888-EBBAF0E861C2}" srcOrd="0" destOrd="0" presId="urn:microsoft.com/office/officeart/2005/8/layout/hierarchy1"/>
    <dgm:cxn modelId="{AFAED781-BD37-4D6A-B8E7-137B91177661}" type="presOf" srcId="{AEF01636-E772-49F4-8FE7-969B7D5CC9F8}" destId="{490C1932-6B04-4A85-9486-67F5145B7284}" srcOrd="0" destOrd="0" presId="urn:microsoft.com/office/officeart/2005/8/layout/hierarchy1"/>
    <dgm:cxn modelId="{BC0C8A91-467C-49C7-AAAC-BE1D2612E885}" srcId="{AEF01636-E772-49F4-8FE7-969B7D5CC9F8}" destId="{7FC6BC27-DFCC-43D6-BA32-2A0545220236}" srcOrd="0" destOrd="0" parTransId="{74DF05FB-7F89-451D-87A6-937A37E194B5}" sibTransId="{F9F7D389-2F2C-48C3-A8DE-94D53352C8A8}"/>
    <dgm:cxn modelId="{5B02E2EC-5067-402E-898D-4631CE241B6B}" srcId="{AEF01636-E772-49F4-8FE7-969B7D5CC9F8}" destId="{6C567417-51A1-4D7F-B5F1-7BE6F9014B1D}" srcOrd="1" destOrd="0" parTransId="{FE9CABB6-82D3-4E57-96BF-E56DB024A03C}" sibTransId="{7204D215-E6BD-4C4C-B747-C3298246EE8F}"/>
    <dgm:cxn modelId="{6A4CC9F0-C8F1-492F-A953-0E7BFF139795}" type="presParOf" srcId="{490C1932-6B04-4A85-9486-67F5145B7284}" destId="{4AE8E843-FEEF-4942-B150-D559A8511ABF}" srcOrd="0" destOrd="0" presId="urn:microsoft.com/office/officeart/2005/8/layout/hierarchy1"/>
    <dgm:cxn modelId="{4C0B168A-92DB-454C-BEDA-F56DFECCD3BA}" type="presParOf" srcId="{4AE8E843-FEEF-4942-B150-D559A8511ABF}" destId="{CEDAE590-0B68-49FB-A8EF-CE9D50CAD332}" srcOrd="0" destOrd="0" presId="urn:microsoft.com/office/officeart/2005/8/layout/hierarchy1"/>
    <dgm:cxn modelId="{9088536A-672E-4CA2-9D72-C50A6AA3B417}" type="presParOf" srcId="{CEDAE590-0B68-49FB-A8EF-CE9D50CAD332}" destId="{97CEC771-82F6-4DB5-A212-FE10E09BA989}" srcOrd="0" destOrd="0" presId="urn:microsoft.com/office/officeart/2005/8/layout/hierarchy1"/>
    <dgm:cxn modelId="{73F335B4-218D-417A-803D-1F03095344E5}" type="presParOf" srcId="{CEDAE590-0B68-49FB-A8EF-CE9D50CAD332}" destId="{116CF4A5-E74D-4C03-A888-EBBAF0E861C2}" srcOrd="1" destOrd="0" presId="urn:microsoft.com/office/officeart/2005/8/layout/hierarchy1"/>
    <dgm:cxn modelId="{DB6035B8-9366-4947-98EA-C7DAA4F9B879}" type="presParOf" srcId="{4AE8E843-FEEF-4942-B150-D559A8511ABF}" destId="{D6D8834A-AF6E-4389-A4C0-DBF5860AA407}" srcOrd="1" destOrd="0" presId="urn:microsoft.com/office/officeart/2005/8/layout/hierarchy1"/>
    <dgm:cxn modelId="{C5FEA76B-A88F-4A44-8B53-DE1D02E241F5}" type="presParOf" srcId="{490C1932-6B04-4A85-9486-67F5145B7284}" destId="{929B0B36-62ED-4EEE-AF00-BAB4B62DBF8D}" srcOrd="1" destOrd="0" presId="urn:microsoft.com/office/officeart/2005/8/layout/hierarchy1"/>
    <dgm:cxn modelId="{697647DF-C121-4717-85D6-6E0A94C48E6F}" type="presParOf" srcId="{929B0B36-62ED-4EEE-AF00-BAB4B62DBF8D}" destId="{A24DDF13-6BBC-4213-B58C-ACE653740AA6}" srcOrd="0" destOrd="0" presId="urn:microsoft.com/office/officeart/2005/8/layout/hierarchy1"/>
    <dgm:cxn modelId="{6B25ACF0-A5BF-4E45-A733-2E035A615A6D}" type="presParOf" srcId="{A24DDF13-6BBC-4213-B58C-ACE653740AA6}" destId="{7A1B266E-9E6A-4FB7-8232-C500F387C0AF}" srcOrd="0" destOrd="0" presId="urn:microsoft.com/office/officeart/2005/8/layout/hierarchy1"/>
    <dgm:cxn modelId="{A83C8C01-B4BA-4A26-A53F-C14C389933A0}" type="presParOf" srcId="{A24DDF13-6BBC-4213-B58C-ACE653740AA6}" destId="{FCFD081D-E361-4F6B-A66B-B7A6F9F63CB5}" srcOrd="1" destOrd="0" presId="urn:microsoft.com/office/officeart/2005/8/layout/hierarchy1"/>
    <dgm:cxn modelId="{54BA6536-7195-4DF9-B719-5DF41100B55E}" type="presParOf" srcId="{929B0B36-62ED-4EEE-AF00-BAB4B62DBF8D}" destId="{186A59A6-96E7-4B5B-AA97-2D99E1C83C1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EC771-82F6-4DB5-A212-FE10E09BA989}">
      <dsp:nvSpPr>
        <dsp:cNvPr id="0" name=""/>
        <dsp:cNvSpPr/>
      </dsp:nvSpPr>
      <dsp:spPr>
        <a:xfrm>
          <a:off x="1189" y="2683"/>
          <a:ext cx="4174260" cy="265065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6CF4A5-E74D-4C03-A888-EBBAF0E861C2}">
      <dsp:nvSpPr>
        <dsp:cNvPr id="0" name=""/>
        <dsp:cNvSpPr/>
      </dsp:nvSpPr>
      <dsp:spPr>
        <a:xfrm>
          <a:off x="464995" y="443299"/>
          <a:ext cx="4174260" cy="2650655"/>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Empathy is the ability to emotionally understand what other people feel, see things from their point of view, and imagine yourself in their place. Essentially, it is putting yourself in someone else's position and feeling what they are feeling. – verywellmind.com</a:t>
          </a:r>
          <a:endParaRPr lang="en-US" sz="2000" kern="1200" dirty="0"/>
        </a:p>
      </dsp:txBody>
      <dsp:txXfrm>
        <a:off x="542630" y="520934"/>
        <a:ext cx="4018990" cy="2495385"/>
      </dsp:txXfrm>
    </dsp:sp>
    <dsp:sp modelId="{7A1B266E-9E6A-4FB7-8232-C500F387C0AF}">
      <dsp:nvSpPr>
        <dsp:cNvPr id="0" name=""/>
        <dsp:cNvSpPr/>
      </dsp:nvSpPr>
      <dsp:spPr>
        <a:xfrm>
          <a:off x="5103062" y="2683"/>
          <a:ext cx="4174260" cy="265065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FD081D-E361-4F6B-A66B-B7A6F9F63CB5}">
      <dsp:nvSpPr>
        <dsp:cNvPr id="0" name=""/>
        <dsp:cNvSpPr/>
      </dsp:nvSpPr>
      <dsp:spPr>
        <a:xfrm>
          <a:off x="5566869" y="443299"/>
          <a:ext cx="4174260" cy="2650655"/>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b="0" i="0" kern="1200" dirty="0"/>
            <a:t>"the action of understanding, being aware of, being sensitive to, and vicariously experiencing the feelings, thoughts, and experience of another.“ - Merriam-Webster</a:t>
          </a:r>
          <a:endParaRPr lang="en-US" sz="2000" kern="1200" dirty="0"/>
        </a:p>
      </dsp:txBody>
      <dsp:txXfrm>
        <a:off x="5644504" y="520934"/>
        <a:ext cx="4018990" cy="249538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a:xfrm>
            <a:off x="5332412" y="5883275"/>
            <a:ext cx="4324044" cy="365125"/>
          </a:xfrm>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480333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951856" y="5867131"/>
            <a:ext cx="551167" cy="365125"/>
          </a:xfrm>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3280575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2412011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654B3F-5D8D-4E38-A2DE-801F8ADAC45E}" type="datetimeFigureOut">
              <a:rPr lang="en-GB" smtClean="0"/>
              <a:t>20/02/2023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397012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654B3F-5D8D-4E38-A2DE-801F8ADAC45E}" type="datetimeFigureOut">
              <a:rPr lang="en-GB" smtClean="0"/>
              <a:t>20/02/2023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692817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654B3F-5D8D-4E38-A2DE-801F8ADAC45E}" type="datetimeFigureOut">
              <a:rPr lang="en-GB" smtClean="0"/>
              <a:t>20/02/2023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56922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654B3F-5D8D-4E38-A2DE-801F8ADAC45E}" type="datetimeFigureOut">
              <a:rPr lang="en-GB" smtClean="0"/>
              <a:t>20/02/2023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2761235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654B3F-5D8D-4E38-A2DE-801F8ADAC45E}" type="datetimeFigureOut">
              <a:rPr lang="en-GB" smtClean="0"/>
              <a:t>20/02/2023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959171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654B3F-5D8D-4E38-A2DE-801F8ADAC45E}" type="datetimeFigureOut">
              <a:rPr lang="en-GB" smtClean="0"/>
              <a:t>20/02/2023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3064927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654B3F-5D8D-4E38-A2DE-801F8ADAC45E}" type="datetimeFigureOut">
              <a:rPr lang="en-GB" smtClean="0"/>
              <a:t>20/02/2023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4112409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131276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951896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4099465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3550156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904109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538216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654B3F-5D8D-4E38-A2DE-801F8ADAC45E}" type="datetimeFigureOut">
              <a:rPr lang="en-GB" smtClean="0"/>
              <a:t>20/02/2023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3537607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6654B3F-5D8D-4E38-A2DE-801F8ADAC45E}" type="datetimeFigureOut">
              <a:rPr lang="en-GB" smtClean="0"/>
              <a:t>20/02/2023</a:t>
            </a:fld>
            <a:endParaRPr lang="en-GB"/>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ADD7488-ADE9-4E19-926A-53E9E3B79501}" type="slidenum">
              <a:rPr lang="en-GB" smtClean="0"/>
              <a:t>‹#›</a:t>
            </a:fld>
            <a:endParaRPr lang="en-GB"/>
          </a:p>
        </p:txBody>
      </p:sp>
    </p:spTree>
    <p:extLst>
      <p:ext uri="{BB962C8B-B14F-4D97-AF65-F5344CB8AC3E}">
        <p14:creationId xmlns:p14="http://schemas.microsoft.com/office/powerpoint/2010/main" val="119635492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phys.org/news/2019-05-power-empathy-product.html" TargetMode="External"/><Relationship Id="rId2" Type="http://schemas.openxmlformats.org/officeDocument/2006/relationships/hyperlink" Target="https://www.marketingweek.com/3-in-4-fmcg-launches-fail-within-a-year/?nocache=true&amp;adfesuccess=1&amp;adfesuccess=1" TargetMode="External"/><Relationship Id="rId1" Type="http://schemas.openxmlformats.org/officeDocument/2006/relationships/slideLayout" Target="../slideLayouts/slideLayout2.xml"/><Relationship Id="rId5" Type="http://schemas.openxmlformats.org/officeDocument/2006/relationships/hyperlink" Target="https://www.ncbi.nlm.nih.gov/pubmed/7650632" TargetMode="External"/><Relationship Id="rId4" Type="http://schemas.openxmlformats.org/officeDocument/2006/relationships/hyperlink" Target="https://academic.oup.com/jcr/article-abstract/46/1/36/5042225"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dropbox.com/s/awtsxciy95a127z/Why%20it%20pays%20to%20get%20inside%20the%20head%20your%20opponent%20-%20Galinsky%202008.pdf?dl=0" TargetMode="External"/><Relationship Id="rId2" Type="http://schemas.openxmlformats.org/officeDocument/2006/relationships/hyperlink" Target="https://www.dropbox.com/s/bu7zb3476ngn0vs/The%20Effects%20of%20Physician%20Empathy%20on%20Patient%20Satisfaction%20and%20Compliance.pdf?dl=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ccl.org/wp-content/uploads/2015/04/EmpathyInTheWorkplace.pdf" TargetMode="External"/><Relationship Id="rId2" Type="http://schemas.openxmlformats.org/officeDocument/2006/relationships/hyperlink" Target="https://business.financialpost.com/executive/c-suite/forget-ethics-training-focus-on-empathy" TargetMode="External"/><Relationship Id="rId1" Type="http://schemas.openxmlformats.org/officeDocument/2006/relationships/slideLayout" Target="../slideLayouts/slideLayout2.xml"/><Relationship Id="rId6" Type="http://schemas.openxmlformats.org/officeDocument/2006/relationships/hyperlink" Target="https://depts.washington.edu/uwcssc/sites/default/files/hw00/d40/uwcssc/sites/default/files/Interpersonal%20Reactivity%20Index.pdf" TargetMode="External"/><Relationship Id="rId5" Type="http://schemas.openxmlformats.org/officeDocument/2006/relationships/hyperlink" Target="https://www.dropbox.com/s/1c8mgajh5ucnjjr/The%20Empathy%20Delusion%20-%20Reach%202019.pdf?dl=0" TargetMode="External"/><Relationship Id="rId4" Type="http://schemas.openxmlformats.org/officeDocument/2006/relationships/hyperlink" Target="https://www.dropbox.com/s/bke8v91tlb9qdzg/High%20Resolution%20Leadership%20DDI%20-%202016.pdf?dl=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ww2.bain.com/bainweb/pdfs/cms/hotTopics/closingdeliverygap.pdf" TargetMode="External"/><Relationship Id="rId2" Type="http://schemas.openxmlformats.org/officeDocument/2006/relationships/hyperlink" Target="https://www.dropbox.com/s/pxp2yfy5gv0wi9o/Experience%20Gap%20-%20Clear%20M%26C%20Saatchi%202018.pdf?dl=0" TargetMode="External"/><Relationship Id="rId1" Type="http://schemas.openxmlformats.org/officeDocument/2006/relationships/slideLayout" Target="../slideLayouts/slideLayout2.xml"/><Relationship Id="rId4" Type="http://schemas.openxmlformats.org/officeDocument/2006/relationships/hyperlink" Target="https://www.capgemini.com/wp-content/uploads/2017/06/dcx-research-new-branding-web-version.pdf"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link.springer.com/article/10.1007/s10803-015-2448-z" TargetMode="External"/><Relationship Id="rId2" Type="http://schemas.openxmlformats.org/officeDocument/2006/relationships/hyperlink" Target="https://www.dropbox.com/s/45r0cl32hs2rma9/Changes%20in%20Dispositional%20Empathy%20in%20American%20College%20Students%20Over%20Time%20-%20A%20Meta-Analysis.pdf?dl=0" TargetMode="External"/><Relationship Id="rId1" Type="http://schemas.openxmlformats.org/officeDocument/2006/relationships/slideLayout" Target="../slideLayouts/slideLayout2.xml"/><Relationship Id="rId6" Type="http://schemas.openxmlformats.org/officeDocument/2006/relationships/hyperlink" Target="https://www.dropbox.com/s/h4fm9w8g9h586od/The%20reading%20in%20the%20minds%20eye%20test%20-%20male%20vs%20female%20Baron-Cohen%202015.pdf?dl=0" TargetMode="External"/><Relationship Id="rId5" Type="http://schemas.openxmlformats.org/officeDocument/2006/relationships/hyperlink" Target="https://www.dropbox.com/s/39249xy5471hfk2/The%20Toronto%20Empathy%20Questionnaire.pdf?dl=0" TargetMode="External"/><Relationship Id="rId4" Type="http://schemas.openxmlformats.org/officeDocument/2006/relationships/hyperlink" Target="https://www.dropbox.com/s/8olejgtkn9fyopa/Development%20of%20short%20forms%20of%20the%20Empathy%20Quotient%20%28EQ-Short%29%20and%20the%20Systemizing%20Quotient%20%28SQ-Short%29.pdf?dl=0"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en.wikipedia.org/wiki/Three_mountain_problem" TargetMode="External"/><Relationship Id="rId3" Type="http://schemas.openxmlformats.org/officeDocument/2006/relationships/hyperlink" Target="https://link.springer.com/article/10.1007/s11031-016-9573-7" TargetMode="External"/><Relationship Id="rId7" Type="http://schemas.openxmlformats.org/officeDocument/2006/relationships/hyperlink" Target="https://en.wikipedia.org/wiki/Sally%E2%80%93Anne_test" TargetMode="External"/><Relationship Id="rId2" Type="http://schemas.openxmlformats.org/officeDocument/2006/relationships/hyperlink" Target="https://www.cam.ac.uk/research/news/study-finds-that-genes-play-a-role-in-empathy" TargetMode="External"/><Relationship Id="rId1" Type="http://schemas.openxmlformats.org/officeDocument/2006/relationships/slideLayout" Target="../slideLayouts/slideLayout2.xml"/><Relationship Id="rId6" Type="http://schemas.openxmlformats.org/officeDocument/2006/relationships/hyperlink" Target="https://www.dropbox.com/s/rzgadxqd0dlzaxs/Investigating%20false%20belief%20levels%20of%20typically%20developed%20children%20and%20children%20with%20autism%20%282010%29.pdf?dl=0" TargetMode="External"/><Relationship Id="rId5" Type="http://schemas.openxmlformats.org/officeDocument/2006/relationships/hyperlink" Target="https://www.dropbox.com/s/s41o91avn5uaivd/Genome%20wide%20analyses%20of%20self-reported%20empathy%20-%20correlations%20with%20autism%20schizophrenia%20and%20anorexia%20nervosa.pdf?dl=0" TargetMode="External"/><Relationship Id="rId4" Type="http://schemas.openxmlformats.org/officeDocument/2006/relationships/hyperlink" Target="https://www.dropbox.com/s/f9v0ps4mv1rjdcj/Genome-wide%20meta-analysis%20of%20cognitive%20empathy%3A%20heritability%2C%20and%20correlates%20with%20sex%2C%20neuropsychiatric%20conditions%20and%20cognition.pdf?dl=0"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www.catalyst.org/reports/empathy-work-strategy-crisi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freshdesk.com/customer-service-skills/guide-empathy-customer-service-blog/#1" TargetMode="External"/><Relationship Id="rId7" Type="http://schemas.openxmlformats.org/officeDocument/2006/relationships/hyperlink" Target="https://freshdesk.com/customer-service-skills/guide-empathy-customer-service-blog/#5" TargetMode="External"/><Relationship Id="rId2" Type="http://schemas.openxmlformats.org/officeDocument/2006/relationships/hyperlink" Target="https://freshdesk.com/customer-service-stories/zapier-blog/" TargetMode="External"/><Relationship Id="rId1" Type="http://schemas.openxmlformats.org/officeDocument/2006/relationships/slideLayout" Target="../slideLayouts/slideLayout2.xml"/><Relationship Id="rId6" Type="http://schemas.openxmlformats.org/officeDocument/2006/relationships/hyperlink" Target="https://freshdesk.com/customer-service-skills/guide-empathy-customer-service-blog/#4" TargetMode="External"/><Relationship Id="rId5" Type="http://schemas.openxmlformats.org/officeDocument/2006/relationships/hyperlink" Target="https://freshdesk.com/customer-service-skills/guide-empathy-customer-service-blog/#3" TargetMode="External"/><Relationship Id="rId4" Type="http://schemas.openxmlformats.org/officeDocument/2006/relationships/hyperlink" Target="https://freshdesk.com/customer-service-skills/guide-empathy-customer-service-blog/#2"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freshdesk.com/customer-support" TargetMode="External"/><Relationship Id="rId2" Type="http://schemas.openxmlformats.org/officeDocument/2006/relationships/hyperlink" Target="https://freshdesk.com/customer-experience" TargetMode="External"/><Relationship Id="rId1" Type="http://schemas.openxmlformats.org/officeDocument/2006/relationships/slideLayout" Target="../slideLayouts/slideLayout2.xml"/><Relationship Id="rId5" Type="http://schemas.openxmlformats.org/officeDocument/2006/relationships/hyperlink" Target="https://freshdesk.com/resources/remote-support" TargetMode="External"/><Relationship Id="rId4" Type="http://schemas.openxmlformats.org/officeDocument/2006/relationships/hyperlink" Target="https://www.freshworks.com/resources/reports/deconstructing-delight/"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freshdesk.com/customer-service-skills/how-to-say-no-customer-service-blo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freshdesk.com/customer-satisfaction" TargetMode="External"/><Relationship Id="rId2" Type="http://schemas.openxmlformats.org/officeDocument/2006/relationships/hyperlink" Target="https://freshdesk.com/customer-support-software/why-your-support-sucks-blo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freshdesk.com/customer-service-skills/dealing-with-difficult-customers-blo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freshdesk.com/customer-support/customer-service-communication-tips-blo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FC90E-B53A-DF66-F95C-FF552BA9BDF0}"/>
              </a:ext>
            </a:extLst>
          </p:cNvPr>
          <p:cNvSpPr>
            <a:spLocks noGrp="1"/>
          </p:cNvSpPr>
          <p:nvPr>
            <p:ph type="ctrTitle"/>
          </p:nvPr>
        </p:nvSpPr>
        <p:spPr/>
        <p:txBody>
          <a:bodyPr/>
          <a:lstStyle/>
          <a:p>
            <a:r>
              <a:rPr lang="en-GB" dirty="0"/>
              <a:t>Empathy</a:t>
            </a:r>
          </a:p>
        </p:txBody>
      </p:sp>
      <p:sp>
        <p:nvSpPr>
          <p:cNvPr id="3" name="Subtitle 2">
            <a:extLst>
              <a:ext uri="{FF2B5EF4-FFF2-40B4-BE49-F238E27FC236}">
                <a16:creationId xmlns:a16="http://schemas.microsoft.com/office/drawing/2014/main" id="{835924D8-9EFE-8411-9E6F-A01A0C4E36C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744903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FB893-53AB-A7DD-02B5-38C6ADADE695}"/>
              </a:ext>
            </a:extLst>
          </p:cNvPr>
          <p:cNvSpPr>
            <a:spLocks noGrp="1"/>
          </p:cNvSpPr>
          <p:nvPr>
            <p:ph type="title"/>
          </p:nvPr>
        </p:nvSpPr>
        <p:spPr>
          <a:xfrm>
            <a:off x="1760706" y="685800"/>
            <a:ext cx="9742318" cy="1752599"/>
          </a:xfrm>
        </p:spPr>
        <p:txBody>
          <a:bodyPr>
            <a:normAutofit/>
          </a:bodyPr>
          <a:lstStyle/>
          <a:p>
            <a:r>
              <a:rPr lang="en-GB" dirty="0"/>
              <a:t>Definitions</a:t>
            </a:r>
          </a:p>
        </p:txBody>
      </p:sp>
      <p:graphicFrame>
        <p:nvGraphicFramePr>
          <p:cNvPr id="5" name="Content Placeholder 2">
            <a:extLst>
              <a:ext uri="{FF2B5EF4-FFF2-40B4-BE49-F238E27FC236}">
                <a16:creationId xmlns:a16="http://schemas.microsoft.com/office/drawing/2014/main" id="{22A81330-F119-FC09-90CA-958AE18D7CEB}"/>
              </a:ext>
            </a:extLst>
          </p:cNvPr>
          <p:cNvGraphicFramePr>
            <a:graphicFrameLocks noGrp="1"/>
          </p:cNvGraphicFramePr>
          <p:nvPr>
            <p:ph idx="1"/>
            <p:extLst>
              <p:ext uri="{D42A27DB-BD31-4B8C-83A1-F6EECF244321}">
                <p14:modId xmlns:p14="http://schemas.microsoft.com/office/powerpoint/2010/main" val="473639836"/>
              </p:ext>
            </p:extLst>
          </p:nvPr>
        </p:nvGraphicFramePr>
        <p:xfrm>
          <a:off x="1760705" y="2694562"/>
          <a:ext cx="9742319" cy="309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9916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p:txBody>
          <a:bodyPr/>
          <a:lstStyle/>
          <a:p>
            <a:r>
              <a:rPr lang="en-GB" dirty="0"/>
              <a:t>Statistics on Empathy</a:t>
            </a:r>
          </a:p>
        </p:txBody>
      </p:sp>
      <p:sp>
        <p:nvSpPr>
          <p:cNvPr id="3" name="Content Placeholder 2">
            <a:extLst>
              <a:ext uri="{FF2B5EF4-FFF2-40B4-BE49-F238E27FC236}">
                <a16:creationId xmlns:a16="http://schemas.microsoft.com/office/drawing/2014/main" id="{886C7002-798D-02F1-57B2-5DC3E57D1E1F}"/>
              </a:ext>
            </a:extLst>
          </p:cNvPr>
          <p:cNvSpPr>
            <a:spLocks noGrp="1"/>
          </p:cNvSpPr>
          <p:nvPr>
            <p:ph idx="1"/>
          </p:nvPr>
        </p:nvSpPr>
        <p:spPr/>
        <p:txBody>
          <a:bodyPr>
            <a:normAutofit fontScale="62500" lnSpcReduction="20000"/>
          </a:bodyPr>
          <a:lstStyle/>
          <a:p>
            <a:pPr algn="l">
              <a:buFont typeface="+mj-lt"/>
              <a:buAutoNum type="arabicPeriod"/>
            </a:pPr>
            <a:r>
              <a:rPr lang="en-GB" b="1" i="0" dirty="0">
                <a:solidFill>
                  <a:srgbClr val="252525"/>
                </a:solidFill>
                <a:effectLst/>
                <a:latin typeface="Avenir Bold"/>
              </a:rPr>
              <a:t>Empathy is #1 rule for “new product innovation success”</a:t>
            </a:r>
            <a:r>
              <a:rPr lang="en-GB" b="0" i="0" dirty="0">
                <a:solidFill>
                  <a:srgbClr val="252525"/>
                </a:solidFill>
                <a:effectLst/>
                <a:latin typeface="Avenir"/>
              </a:rPr>
              <a:t> according to a </a:t>
            </a:r>
            <a:r>
              <a:rPr lang="en-GB" b="0" i="0" u="sng" dirty="0">
                <a:solidFill>
                  <a:srgbClr val="AD4FE3"/>
                </a:solidFill>
                <a:effectLst/>
                <a:latin typeface="Avenir"/>
                <a:hlinkClick r:id="rId2"/>
              </a:rPr>
              <a:t>Nielsen analysis</a:t>
            </a:r>
            <a:r>
              <a:rPr lang="en-GB" b="0" i="0" dirty="0">
                <a:solidFill>
                  <a:srgbClr val="252525"/>
                </a:solidFill>
                <a:effectLst/>
                <a:latin typeface="Avenir"/>
              </a:rPr>
              <a:t> of 61,000 SKUs representing more than 12,000 new launches since 2011. 3 in 4 FMCG launches fail within a year. Those that succeed focus on “walking in the shoes of the consumer to uncover key demand-driven insights”.</a:t>
            </a:r>
          </a:p>
          <a:p>
            <a:pPr algn="l">
              <a:buFont typeface="+mj-lt"/>
              <a:buAutoNum type="arabicPeriod"/>
            </a:pPr>
            <a:r>
              <a:rPr lang="en-GB" b="1" i="0" dirty="0">
                <a:solidFill>
                  <a:srgbClr val="252525"/>
                </a:solidFill>
                <a:effectLst/>
                <a:latin typeface="Avenir Bold"/>
              </a:rPr>
              <a:t>Empathy boosts business creativity</a:t>
            </a:r>
            <a:r>
              <a:rPr lang="en-GB" b="0" i="0" dirty="0">
                <a:solidFill>
                  <a:srgbClr val="252525"/>
                </a:solidFill>
                <a:effectLst/>
                <a:latin typeface="Avenir"/>
              </a:rPr>
              <a:t>. </a:t>
            </a:r>
            <a:r>
              <a:rPr lang="en-GB" b="0" i="0" u="sng" dirty="0">
                <a:solidFill>
                  <a:srgbClr val="AD4FE3"/>
                </a:solidFill>
                <a:effectLst/>
                <a:latin typeface="Avenir"/>
                <a:hlinkClick r:id="rId3"/>
              </a:rPr>
              <a:t>In a scientific experiment with 209 adults</a:t>
            </a:r>
            <a:r>
              <a:rPr lang="en-GB" b="0" i="0" dirty="0">
                <a:solidFill>
                  <a:srgbClr val="252525"/>
                </a:solidFill>
                <a:effectLst/>
                <a:latin typeface="Avenir"/>
              </a:rPr>
              <a:t>, a simple empathy exercise designed to activate empathy boosted the creativity of participants who were innovating a new line of new potato chips for pregnant women. Before beginning, some participants were asked to imagine how a consumer would </a:t>
            </a:r>
            <a:r>
              <a:rPr lang="en-GB" b="0" i="1" dirty="0">
                <a:solidFill>
                  <a:srgbClr val="252525"/>
                </a:solidFill>
                <a:effectLst/>
                <a:latin typeface="inherit"/>
              </a:rPr>
              <a:t>feel</a:t>
            </a:r>
            <a:r>
              <a:rPr lang="en-GB" b="0" i="0" dirty="0">
                <a:solidFill>
                  <a:srgbClr val="252525"/>
                </a:solidFill>
                <a:effectLst/>
                <a:latin typeface="Avenir"/>
              </a:rPr>
              <a:t> using the product (empathy-inducing condition), whilst others were asked to imagine what the consumer would </a:t>
            </a:r>
            <a:r>
              <a:rPr lang="en-GB" b="0" i="1" dirty="0">
                <a:solidFill>
                  <a:srgbClr val="252525"/>
                </a:solidFill>
                <a:effectLst/>
                <a:latin typeface="inherit"/>
              </a:rPr>
              <a:t>think</a:t>
            </a:r>
            <a:r>
              <a:rPr lang="en-GB" b="0" i="0" dirty="0">
                <a:solidFill>
                  <a:srgbClr val="252525"/>
                </a:solidFill>
                <a:effectLst/>
                <a:latin typeface="Avenir"/>
              </a:rPr>
              <a:t> when using the product (objective-imagination control condition). An independent jury found the ideas of the empathy-activated group were more original than the control group. </a:t>
            </a:r>
            <a:r>
              <a:rPr lang="en-GB" b="0" i="0" u="sng" dirty="0">
                <a:solidFill>
                  <a:srgbClr val="AD4FE3"/>
                </a:solidFill>
                <a:effectLst/>
                <a:latin typeface="Avenir"/>
                <a:hlinkClick r:id="rId4"/>
              </a:rPr>
              <a:t>Four other experiments confirmed the finding</a:t>
            </a:r>
            <a:r>
              <a:rPr lang="en-GB" b="0" i="0" dirty="0">
                <a:solidFill>
                  <a:srgbClr val="252525"/>
                </a:solidFill>
                <a:effectLst/>
                <a:latin typeface="Avenir"/>
              </a:rPr>
              <a:t>; whether it’s designing new toys, cereals or shopping carts, activating empathy boosts creativity. These experiments also showed that empathy can boost creativity by increasing our ‘cognitive flexibility’ (ability to see from and switch between multiple perspectives). This study confirmed </a:t>
            </a:r>
            <a:r>
              <a:rPr lang="en-GB" b="0" i="0" u="sng" dirty="0">
                <a:solidFill>
                  <a:srgbClr val="AD4FE3"/>
                </a:solidFill>
                <a:effectLst/>
                <a:latin typeface="Avenir"/>
                <a:hlinkClick r:id="rId5"/>
              </a:rPr>
              <a:t>previous findings</a:t>
            </a:r>
            <a:r>
              <a:rPr lang="en-GB" b="0" i="0" dirty="0">
                <a:solidFill>
                  <a:srgbClr val="252525"/>
                </a:solidFill>
                <a:effectLst/>
                <a:latin typeface="Avenir"/>
              </a:rPr>
              <a:t> that empathy is linked creativity (and inversely related to dogmatism)</a:t>
            </a:r>
          </a:p>
          <a:p>
            <a:endParaRPr lang="en-GB" dirty="0"/>
          </a:p>
        </p:txBody>
      </p:sp>
    </p:spTree>
    <p:extLst>
      <p:ext uri="{BB962C8B-B14F-4D97-AF65-F5344CB8AC3E}">
        <p14:creationId xmlns:p14="http://schemas.microsoft.com/office/powerpoint/2010/main" val="2266146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p:txBody>
          <a:bodyPr/>
          <a:lstStyle/>
          <a:p>
            <a:r>
              <a:rPr lang="en-GB" dirty="0"/>
              <a:t>Statistics on Empathy</a:t>
            </a:r>
          </a:p>
        </p:txBody>
      </p:sp>
      <p:sp>
        <p:nvSpPr>
          <p:cNvPr id="3" name="Content Placeholder 2">
            <a:extLst>
              <a:ext uri="{FF2B5EF4-FFF2-40B4-BE49-F238E27FC236}">
                <a16:creationId xmlns:a16="http://schemas.microsoft.com/office/drawing/2014/main" id="{886C7002-798D-02F1-57B2-5DC3E57D1E1F}"/>
              </a:ext>
            </a:extLst>
          </p:cNvPr>
          <p:cNvSpPr>
            <a:spLocks noGrp="1"/>
          </p:cNvSpPr>
          <p:nvPr>
            <p:ph idx="1"/>
          </p:nvPr>
        </p:nvSpPr>
        <p:spPr/>
        <p:txBody>
          <a:bodyPr>
            <a:normAutofit fontScale="77500" lnSpcReduction="20000"/>
          </a:bodyPr>
          <a:lstStyle/>
          <a:p>
            <a:pPr algn="l">
              <a:buFont typeface="+mj-lt"/>
              <a:buAutoNum type="arabicPeriod"/>
            </a:pPr>
            <a:r>
              <a:rPr lang="en-GB" b="1" i="0" dirty="0">
                <a:solidFill>
                  <a:srgbClr val="252525"/>
                </a:solidFill>
                <a:effectLst/>
                <a:latin typeface="Avenir Bold"/>
              </a:rPr>
              <a:t>Empathy improves satisfaction</a:t>
            </a:r>
            <a:r>
              <a:rPr lang="en-GB" b="0" i="0" dirty="0">
                <a:solidFill>
                  <a:srgbClr val="252525"/>
                </a:solidFill>
                <a:effectLst/>
                <a:latin typeface="Avenir"/>
              </a:rPr>
              <a:t>. A </a:t>
            </a:r>
            <a:r>
              <a:rPr lang="en-GB" b="0" i="0" u="sng" dirty="0">
                <a:solidFill>
                  <a:srgbClr val="AD4FE3"/>
                </a:solidFill>
                <a:effectLst/>
                <a:latin typeface="Avenir"/>
                <a:hlinkClick r:id="rId2"/>
              </a:rPr>
              <a:t>Korean study</a:t>
            </a:r>
            <a:r>
              <a:rPr lang="en-GB" b="0" i="0" dirty="0">
                <a:solidFill>
                  <a:srgbClr val="252525"/>
                </a:solidFill>
                <a:effectLst/>
                <a:latin typeface="Avenir"/>
              </a:rPr>
              <a:t> in the healthcare sector found that empathy improves patient satisfaction and compliance (adhering to treatment schedule). Five hundred and fifty outpatients participated in the study. Physician empathy levels were linked to better information exchange, perceived expertise, interpersonal trust, and partnership. This resulted in higher patient satisfaction and better compliance.</a:t>
            </a:r>
          </a:p>
          <a:p>
            <a:pPr algn="l">
              <a:buFont typeface="+mj-lt"/>
              <a:buAutoNum type="arabicPeriod"/>
            </a:pPr>
            <a:r>
              <a:rPr lang="en-GB" b="1" i="0" dirty="0">
                <a:solidFill>
                  <a:srgbClr val="252525"/>
                </a:solidFill>
                <a:effectLst/>
                <a:latin typeface="Avenir Bold"/>
              </a:rPr>
              <a:t>Empathy improves ability to negotiate</a:t>
            </a:r>
            <a:r>
              <a:rPr lang="en-GB" b="0" i="0" dirty="0">
                <a:solidFill>
                  <a:srgbClr val="252525"/>
                </a:solidFill>
                <a:effectLst/>
                <a:latin typeface="Avenir"/>
              </a:rPr>
              <a:t>. It might seem self-evident that the ability to see things from the other side of a negotiating table is beneficial in negotiations, but an</a:t>
            </a:r>
            <a:r>
              <a:rPr lang="en-GB" b="0" i="0" u="sng" dirty="0">
                <a:solidFill>
                  <a:srgbClr val="AD4FE3"/>
                </a:solidFill>
                <a:effectLst/>
                <a:latin typeface="Avenir"/>
                <a:hlinkClick r:id="rId3"/>
              </a:rPr>
              <a:t> INSEAD experiment</a:t>
            </a:r>
            <a:r>
              <a:rPr lang="en-GB" b="0" i="0" dirty="0">
                <a:solidFill>
                  <a:srgbClr val="252525"/>
                </a:solidFill>
                <a:effectLst/>
                <a:latin typeface="Avenir"/>
              </a:rPr>
              <a:t> by Adam Galinsky and colleagues validated this scientifically. 146 negotiators were profiled for the empathic ability of perspective-taking, and this was found to predict negotiation success. Across three negotiations, empathic perspective-taking was linked to negotiators’ ability to discover hidden agreements, to both create and claim resources at the negotiation table.</a:t>
            </a:r>
          </a:p>
        </p:txBody>
      </p:sp>
    </p:spTree>
    <p:extLst>
      <p:ext uri="{BB962C8B-B14F-4D97-AF65-F5344CB8AC3E}">
        <p14:creationId xmlns:p14="http://schemas.microsoft.com/office/powerpoint/2010/main" val="25020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p:txBody>
          <a:bodyPr/>
          <a:lstStyle/>
          <a:p>
            <a:r>
              <a:rPr lang="en-GB" dirty="0"/>
              <a:t>Statistics on Empathy</a:t>
            </a:r>
          </a:p>
        </p:txBody>
      </p:sp>
      <p:sp>
        <p:nvSpPr>
          <p:cNvPr id="3" name="Content Placeholder 2">
            <a:extLst>
              <a:ext uri="{FF2B5EF4-FFF2-40B4-BE49-F238E27FC236}">
                <a16:creationId xmlns:a16="http://schemas.microsoft.com/office/drawing/2014/main" id="{886C7002-798D-02F1-57B2-5DC3E57D1E1F}"/>
              </a:ext>
            </a:extLst>
          </p:cNvPr>
          <p:cNvSpPr>
            <a:spLocks noGrp="1"/>
          </p:cNvSpPr>
          <p:nvPr>
            <p:ph idx="1"/>
          </p:nvPr>
        </p:nvSpPr>
        <p:spPr/>
        <p:txBody>
          <a:bodyPr>
            <a:normAutofit fontScale="70000" lnSpcReduction="20000"/>
          </a:bodyPr>
          <a:lstStyle/>
          <a:p>
            <a:pPr algn="l">
              <a:buFont typeface="+mj-lt"/>
              <a:buAutoNum type="arabicPeriod"/>
            </a:pPr>
            <a:r>
              <a:rPr lang="en-GB" b="1" i="0" dirty="0">
                <a:solidFill>
                  <a:srgbClr val="252525"/>
                </a:solidFill>
                <a:effectLst/>
                <a:latin typeface="Avenir Bold"/>
              </a:rPr>
              <a:t>Empathy is linked to good leadership</a:t>
            </a:r>
            <a:r>
              <a:rPr lang="en-GB" b="0" i="0" dirty="0">
                <a:solidFill>
                  <a:srgbClr val="252525"/>
                </a:solidFill>
                <a:effectLst/>
                <a:latin typeface="Avenir"/>
              </a:rPr>
              <a:t>. In studies by the </a:t>
            </a:r>
            <a:r>
              <a:rPr lang="en-GB" b="0" i="0" u="sng" dirty="0">
                <a:solidFill>
                  <a:srgbClr val="AD4FE3"/>
                </a:solidFill>
                <a:effectLst/>
                <a:latin typeface="Avenir"/>
                <a:hlinkClick r:id="rId2"/>
              </a:rPr>
              <a:t>Management Research Group</a:t>
            </a:r>
            <a:r>
              <a:rPr lang="en-GB" b="0" i="0" dirty="0">
                <a:solidFill>
                  <a:srgbClr val="252525"/>
                </a:solidFill>
                <a:effectLst/>
                <a:latin typeface="Avenir"/>
              </a:rPr>
              <a:t>, empathy was found to be the top competence for good leadership and one of the three strongest predictors of senior executive effectiveness. Similar results were found by 2016 </a:t>
            </a:r>
            <a:r>
              <a:rPr lang="en-GB" b="0" i="0" u="sng" dirty="0">
                <a:solidFill>
                  <a:srgbClr val="AD4FE3"/>
                </a:solidFill>
                <a:effectLst/>
                <a:latin typeface="Avenir"/>
                <a:hlinkClick r:id="rId3"/>
              </a:rPr>
              <a:t>CCL analysis</a:t>
            </a:r>
            <a:r>
              <a:rPr lang="en-GB" b="0" i="0" dirty="0">
                <a:solidFill>
                  <a:srgbClr val="252525"/>
                </a:solidFill>
                <a:effectLst/>
                <a:latin typeface="Avenir"/>
              </a:rPr>
              <a:t> of 6,731 leaders from 38 countries, where enhanced empathy was linked to superior performance. A recent </a:t>
            </a:r>
            <a:r>
              <a:rPr lang="en-GB" b="0" i="0" u="sng" dirty="0">
                <a:solidFill>
                  <a:srgbClr val="AD4FE3"/>
                </a:solidFill>
                <a:effectLst/>
                <a:latin typeface="Avenir"/>
                <a:hlinkClick r:id="rId4"/>
              </a:rPr>
              <a:t>DDI analysis</a:t>
            </a:r>
            <a:r>
              <a:rPr lang="en-GB" b="0" i="0" dirty="0">
                <a:solidFill>
                  <a:srgbClr val="252525"/>
                </a:solidFill>
                <a:effectLst/>
                <a:latin typeface="Avenir"/>
              </a:rPr>
              <a:t> of high performing leadership with 15,000 business leaders confirmed the same link between empathy and leadership performance. More worrying was the finding that empathy remains low in business leaders, with only 40% having proficient empathy skills.</a:t>
            </a:r>
          </a:p>
          <a:p>
            <a:pPr algn="l">
              <a:buFont typeface="+mj-lt"/>
              <a:buAutoNum type="arabicPeriod"/>
            </a:pPr>
            <a:r>
              <a:rPr lang="en-GB" b="1" i="0" dirty="0">
                <a:solidFill>
                  <a:srgbClr val="252525"/>
                </a:solidFill>
                <a:effectLst/>
                <a:latin typeface="Avenir Bold"/>
              </a:rPr>
              <a:t>The empathy delusion in marketing</a:t>
            </a:r>
            <a:r>
              <a:rPr lang="en-GB" b="0" i="0" dirty="0">
                <a:solidFill>
                  <a:srgbClr val="252525"/>
                </a:solidFill>
                <a:effectLst/>
                <a:latin typeface="Avenir"/>
              </a:rPr>
              <a:t>. Marketing involves consumer closeness and understanding. But a </a:t>
            </a:r>
            <a:r>
              <a:rPr lang="en-GB" b="0" i="0" u="sng" dirty="0">
                <a:solidFill>
                  <a:srgbClr val="AD4FE3"/>
                </a:solidFill>
                <a:effectLst/>
                <a:latin typeface="Avenir"/>
                <a:hlinkClick r:id="rId5"/>
              </a:rPr>
              <a:t>2019 study</a:t>
            </a:r>
            <a:r>
              <a:rPr lang="en-GB" b="0" i="0" dirty="0">
                <a:solidFill>
                  <a:srgbClr val="252525"/>
                </a:solidFill>
                <a:effectLst/>
                <a:latin typeface="Avenir"/>
              </a:rPr>
              <a:t> called The Empathy Delusion conducted by Reach found that marketers have no elevated ability to understand and empathise with consumers. 199 marketing executives completed an empathy </a:t>
            </a:r>
            <a:r>
              <a:rPr lang="en-GB" b="0" i="0" u="sng" dirty="0">
                <a:solidFill>
                  <a:srgbClr val="AD4FE3"/>
                </a:solidFill>
                <a:effectLst/>
                <a:latin typeface="Avenir"/>
                <a:hlinkClick r:id="rId6"/>
              </a:rPr>
              <a:t>psychometric test</a:t>
            </a:r>
            <a:r>
              <a:rPr lang="en-GB" b="0" i="0" dirty="0">
                <a:solidFill>
                  <a:srgbClr val="252525"/>
                </a:solidFill>
                <a:effectLst/>
                <a:latin typeface="Avenir"/>
              </a:rPr>
              <a:t> (the IRI – Interpersonal Reactivity Index) measuring their empathy levels both cognitively and emotionally. The study found no differences between marketers and the general population. Only 30% of marketers were proficient in experiencing the world from someone else’s (i.e. the consumer’s) perspective.</a:t>
            </a:r>
          </a:p>
        </p:txBody>
      </p:sp>
    </p:spTree>
    <p:extLst>
      <p:ext uri="{BB962C8B-B14F-4D97-AF65-F5344CB8AC3E}">
        <p14:creationId xmlns:p14="http://schemas.microsoft.com/office/powerpoint/2010/main" val="2644147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p:txBody>
          <a:bodyPr/>
          <a:lstStyle/>
          <a:p>
            <a:r>
              <a:rPr lang="en-GB" dirty="0"/>
              <a:t>Statistics on Empathy</a:t>
            </a:r>
          </a:p>
        </p:txBody>
      </p:sp>
      <p:sp>
        <p:nvSpPr>
          <p:cNvPr id="3" name="Content Placeholder 2">
            <a:extLst>
              <a:ext uri="{FF2B5EF4-FFF2-40B4-BE49-F238E27FC236}">
                <a16:creationId xmlns:a16="http://schemas.microsoft.com/office/drawing/2014/main" id="{886C7002-798D-02F1-57B2-5DC3E57D1E1F}"/>
              </a:ext>
            </a:extLst>
          </p:cNvPr>
          <p:cNvSpPr>
            <a:spLocks noGrp="1"/>
          </p:cNvSpPr>
          <p:nvPr>
            <p:ph idx="1"/>
          </p:nvPr>
        </p:nvSpPr>
        <p:spPr/>
        <p:txBody>
          <a:bodyPr>
            <a:normAutofit fontScale="62500" lnSpcReduction="20000"/>
          </a:bodyPr>
          <a:lstStyle/>
          <a:p>
            <a:pPr algn="l">
              <a:buFont typeface="+mj-lt"/>
              <a:buAutoNum type="arabicPeriod"/>
            </a:pPr>
            <a:r>
              <a:rPr lang="en-GB" b="1" i="0" dirty="0">
                <a:solidFill>
                  <a:srgbClr val="252525"/>
                </a:solidFill>
                <a:effectLst/>
                <a:latin typeface="Avenir Bold"/>
              </a:rPr>
              <a:t>The empathy deficit in business costs the average brand over $300m</a:t>
            </a:r>
            <a:r>
              <a:rPr lang="en-GB" b="0" i="0" dirty="0">
                <a:solidFill>
                  <a:srgbClr val="252525"/>
                </a:solidFill>
                <a:effectLst/>
                <a:latin typeface="Avenir"/>
              </a:rPr>
              <a:t> in lost revenue every year. This is the finding of a </a:t>
            </a:r>
            <a:r>
              <a:rPr lang="en-GB" b="0" i="0" u="sng" dirty="0">
                <a:solidFill>
                  <a:srgbClr val="AD4FE3"/>
                </a:solidFill>
                <a:effectLst/>
                <a:latin typeface="Avenir"/>
                <a:hlinkClick r:id="rId2"/>
              </a:rPr>
              <a:t>large-scale 2018 study by M&amp;C Saatchi</a:t>
            </a:r>
            <a:r>
              <a:rPr lang="en-GB" b="0" i="0" dirty="0">
                <a:solidFill>
                  <a:srgbClr val="252525"/>
                </a:solidFill>
                <a:effectLst/>
                <a:latin typeface="Avenir"/>
              </a:rPr>
              <a:t> with 34,000 consumers across 225 large brands in China, US, UK and France. The study looked at people’s actual real-lived experience of brands, and whether it matched marketing promises made by the brand. They then assessed the consequences of any mismatch. The study found that 18% of consumers had stopped using a brand in the last 12 months because of the gap between marketing and experience, with 32% believe the gap is widening. Overall, this gap represents a fundamental empathy deficit among brands who are out of touch with what it feels like to use the brand.</a:t>
            </a:r>
          </a:p>
          <a:p>
            <a:pPr algn="l">
              <a:buFont typeface="+mj-lt"/>
              <a:buAutoNum type="arabicPeriod"/>
            </a:pPr>
            <a:r>
              <a:rPr lang="en-GB" b="1" i="0" dirty="0">
                <a:solidFill>
                  <a:srgbClr val="252525"/>
                </a:solidFill>
                <a:effectLst/>
                <a:latin typeface="Avenir Bold"/>
              </a:rPr>
              <a:t>The empathy deficit and the 80:8 rule</a:t>
            </a:r>
            <a:r>
              <a:rPr lang="en-GB" b="0" i="0" dirty="0">
                <a:solidFill>
                  <a:srgbClr val="252525"/>
                </a:solidFill>
                <a:effectLst/>
                <a:latin typeface="Avenir"/>
              </a:rPr>
              <a:t>. Bain management consultants have identified a persistent empathy deficit in business characterised by the </a:t>
            </a:r>
            <a:r>
              <a:rPr lang="en-GB" b="0" i="0" u="sng" dirty="0">
                <a:solidFill>
                  <a:srgbClr val="AD4FE3"/>
                </a:solidFill>
                <a:effectLst/>
                <a:latin typeface="Avenir"/>
                <a:hlinkClick r:id="rId3"/>
              </a:rPr>
              <a:t>80:8 rule</a:t>
            </a:r>
            <a:r>
              <a:rPr lang="en-GB" b="0" i="0" dirty="0">
                <a:solidFill>
                  <a:srgbClr val="252525"/>
                </a:solidFill>
                <a:effectLst/>
                <a:latin typeface="Avenir"/>
              </a:rPr>
              <a:t>. Across nearly 400 organisations.  80% of firms believed they deliver a superior experience to customers, whilst only 8% of their customers agreed.</a:t>
            </a:r>
          </a:p>
          <a:p>
            <a:pPr algn="l">
              <a:buFont typeface="+mj-lt"/>
              <a:buAutoNum type="arabicPeriod"/>
            </a:pPr>
            <a:r>
              <a:rPr lang="en-GB" b="1" i="0" dirty="0">
                <a:solidFill>
                  <a:srgbClr val="252525"/>
                </a:solidFill>
                <a:effectLst/>
                <a:latin typeface="Avenir Bold"/>
              </a:rPr>
              <a:t>A lack of consumer-centricity costs brands 69 points in NPS </a:t>
            </a:r>
            <a:r>
              <a:rPr lang="en-GB" b="0" i="0" dirty="0">
                <a:solidFill>
                  <a:srgbClr val="252525"/>
                </a:solidFill>
                <a:effectLst/>
                <a:latin typeface="Avenir"/>
              </a:rPr>
              <a:t>(experience rating). In a 2017 </a:t>
            </a:r>
            <a:r>
              <a:rPr lang="en-GB" b="0" i="0" u="sng" dirty="0">
                <a:solidFill>
                  <a:srgbClr val="AD4FE3"/>
                </a:solidFill>
                <a:effectLst/>
                <a:latin typeface="Avenir"/>
                <a:hlinkClick r:id="rId4"/>
              </a:rPr>
              <a:t>global survey</a:t>
            </a:r>
            <a:r>
              <a:rPr lang="en-GB" b="0" i="0" dirty="0">
                <a:solidFill>
                  <a:srgbClr val="252525"/>
                </a:solidFill>
                <a:effectLst/>
                <a:latin typeface="Avenir"/>
              </a:rPr>
              <a:t> by Capgemini, 75% of brands audited believed they were consumer-centric, but only 30% of their consumers agreed. The study also found that brands perceived as not consumer-centric has an NPS experience rating 69 points lower than consumer-centric brands.</a:t>
            </a:r>
          </a:p>
        </p:txBody>
      </p:sp>
    </p:spTree>
    <p:extLst>
      <p:ext uri="{BB962C8B-B14F-4D97-AF65-F5344CB8AC3E}">
        <p14:creationId xmlns:p14="http://schemas.microsoft.com/office/powerpoint/2010/main" val="4239551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p:txBody>
          <a:bodyPr/>
          <a:lstStyle/>
          <a:p>
            <a:r>
              <a:rPr lang="en-GB" dirty="0"/>
              <a:t>Statistics on Empathy</a:t>
            </a:r>
          </a:p>
        </p:txBody>
      </p:sp>
      <p:sp>
        <p:nvSpPr>
          <p:cNvPr id="3" name="Content Placeholder 2">
            <a:extLst>
              <a:ext uri="{FF2B5EF4-FFF2-40B4-BE49-F238E27FC236}">
                <a16:creationId xmlns:a16="http://schemas.microsoft.com/office/drawing/2014/main" id="{886C7002-798D-02F1-57B2-5DC3E57D1E1F}"/>
              </a:ext>
            </a:extLst>
          </p:cNvPr>
          <p:cNvSpPr>
            <a:spLocks noGrp="1"/>
          </p:cNvSpPr>
          <p:nvPr>
            <p:ph idx="1"/>
          </p:nvPr>
        </p:nvSpPr>
        <p:spPr/>
        <p:txBody>
          <a:bodyPr>
            <a:normAutofit fontScale="62500" lnSpcReduction="20000"/>
          </a:bodyPr>
          <a:lstStyle/>
          <a:p>
            <a:pPr algn="l">
              <a:buFont typeface="+mj-lt"/>
              <a:buAutoNum type="arabicPeriod"/>
            </a:pPr>
            <a:r>
              <a:rPr lang="en-GB" b="1" i="0" dirty="0">
                <a:solidFill>
                  <a:srgbClr val="252525"/>
                </a:solidFill>
                <a:effectLst/>
                <a:latin typeface="Avenir Bold"/>
              </a:rPr>
              <a:t>Empathy levels may be falling</a:t>
            </a:r>
            <a:r>
              <a:rPr lang="en-GB" b="0" i="0" dirty="0">
                <a:solidFill>
                  <a:srgbClr val="252525"/>
                </a:solidFill>
                <a:effectLst/>
                <a:latin typeface="Avenir"/>
              </a:rPr>
              <a:t>. Our ability to empathise with others may be falling according a </a:t>
            </a:r>
            <a:r>
              <a:rPr lang="en-GB" b="0" i="0" u="sng" dirty="0">
                <a:solidFill>
                  <a:srgbClr val="AD4FE3"/>
                </a:solidFill>
                <a:effectLst/>
                <a:latin typeface="Avenir"/>
                <a:hlinkClick r:id="rId2"/>
              </a:rPr>
              <a:t>meta-analysis</a:t>
            </a:r>
            <a:r>
              <a:rPr lang="en-GB" b="0" i="0" dirty="0">
                <a:solidFill>
                  <a:srgbClr val="252525"/>
                </a:solidFill>
                <a:effectLst/>
                <a:latin typeface="Avenir"/>
              </a:rPr>
              <a:t> of US citizen empathy test scores conducted over the past 30 years. The study found that average American today is less empathic than 75% of Americans 30 years ago.</a:t>
            </a:r>
          </a:p>
          <a:p>
            <a:pPr algn="l">
              <a:buFont typeface="+mj-lt"/>
              <a:buAutoNum type="arabicPeriod"/>
            </a:pPr>
            <a:r>
              <a:rPr lang="en-GB" b="1" i="0" dirty="0">
                <a:solidFill>
                  <a:srgbClr val="252525"/>
                </a:solidFill>
                <a:effectLst/>
                <a:latin typeface="Avenir Bold"/>
              </a:rPr>
              <a:t>Women are (usually) more empathic</a:t>
            </a:r>
            <a:r>
              <a:rPr lang="en-GB" b="0" i="0" dirty="0">
                <a:solidFill>
                  <a:srgbClr val="252525"/>
                </a:solidFill>
                <a:effectLst/>
                <a:latin typeface="Avenir"/>
              </a:rPr>
              <a:t>. Although empathy is an ability that can be improved with training, psychometric test norms tend to show that women </a:t>
            </a:r>
            <a:r>
              <a:rPr lang="en-GB" b="0" i="0" u="sng" dirty="0">
                <a:solidFill>
                  <a:srgbClr val="AD4FE3"/>
                </a:solidFill>
                <a:effectLst/>
                <a:latin typeface="Avenir"/>
                <a:hlinkClick r:id="rId3"/>
              </a:rPr>
              <a:t>typically</a:t>
            </a:r>
            <a:r>
              <a:rPr lang="en-GB" b="0" i="0" dirty="0">
                <a:solidFill>
                  <a:srgbClr val="252525"/>
                </a:solidFill>
                <a:effectLst/>
                <a:latin typeface="Avenir"/>
              </a:rPr>
              <a:t> have higher natural levels of empathy than men. For example, the 60-question EQ test measures ‘Empathy Quotient’ on a 0-80 scale with 80 being the most empathic possible. In a UK </a:t>
            </a:r>
            <a:r>
              <a:rPr lang="en-GB" b="0" i="0" u="sng" dirty="0">
                <a:solidFill>
                  <a:srgbClr val="AD4FE3"/>
                </a:solidFill>
                <a:effectLst/>
                <a:latin typeface="Avenir"/>
                <a:hlinkClick r:id="rId4"/>
              </a:rPr>
              <a:t>validation</a:t>
            </a:r>
            <a:r>
              <a:rPr lang="en-GB" b="0" i="0" dirty="0">
                <a:solidFill>
                  <a:srgbClr val="252525"/>
                </a:solidFill>
                <a:effectLst/>
                <a:latin typeface="Avenir"/>
              </a:rPr>
              <a:t> of the EQ with 1716 participants, women were found to have an average EQ of 48/80 (60%), and men 39/80 (49%), indicating that women are 11% more empathic than men. A shorter test EQ-Short found women scored 26/44 (59%) and men 20/44 (45%), indicating a similar discrepancy. An alternative empathy test (the </a:t>
            </a:r>
            <a:r>
              <a:rPr lang="en-GB" b="0" i="0" u="sng" dirty="0">
                <a:solidFill>
                  <a:srgbClr val="AD4FE3"/>
                </a:solidFill>
                <a:effectLst/>
                <a:latin typeface="Avenir"/>
                <a:hlinkClick r:id="rId5"/>
              </a:rPr>
              <a:t>TEQ – Toronto Empathy Questionnaire</a:t>
            </a:r>
            <a:r>
              <a:rPr lang="en-GB" b="0" i="0" dirty="0">
                <a:solidFill>
                  <a:srgbClr val="252525"/>
                </a:solidFill>
                <a:effectLst/>
                <a:latin typeface="Avenir"/>
              </a:rPr>
              <a:t>) also shows women can score more highly. Finally, women tend to outperform meant on a popular empathy test called the ‘Eyes Test’ (the full name is ‘Reading the Mind in the Eyes’) which tests people empathic ability to read emotions in peoples eyes. For example, in one recent </a:t>
            </a:r>
            <a:r>
              <a:rPr lang="en-GB" b="0" i="0" u="sng" dirty="0">
                <a:solidFill>
                  <a:srgbClr val="AD4FE3"/>
                </a:solidFill>
                <a:effectLst/>
                <a:latin typeface="Avenir"/>
                <a:hlinkClick r:id="rId6"/>
              </a:rPr>
              <a:t>validation</a:t>
            </a:r>
            <a:r>
              <a:rPr lang="en-GB" b="0" i="0" dirty="0">
                <a:solidFill>
                  <a:srgbClr val="252525"/>
                </a:solidFill>
                <a:effectLst/>
                <a:latin typeface="Avenir"/>
              </a:rPr>
              <a:t> of this test, women could correctly read 76% of emotions expressed through eyes, men 71%).</a:t>
            </a:r>
          </a:p>
        </p:txBody>
      </p:sp>
    </p:spTree>
    <p:extLst>
      <p:ext uri="{BB962C8B-B14F-4D97-AF65-F5344CB8AC3E}">
        <p14:creationId xmlns:p14="http://schemas.microsoft.com/office/powerpoint/2010/main" val="4274631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p:txBody>
          <a:bodyPr/>
          <a:lstStyle/>
          <a:p>
            <a:r>
              <a:rPr lang="en-GB" dirty="0"/>
              <a:t>Statistics on Empathy</a:t>
            </a:r>
          </a:p>
        </p:txBody>
      </p:sp>
      <p:sp>
        <p:nvSpPr>
          <p:cNvPr id="3" name="Content Placeholder 2">
            <a:extLst>
              <a:ext uri="{FF2B5EF4-FFF2-40B4-BE49-F238E27FC236}">
                <a16:creationId xmlns:a16="http://schemas.microsoft.com/office/drawing/2014/main" id="{886C7002-798D-02F1-57B2-5DC3E57D1E1F}"/>
              </a:ext>
            </a:extLst>
          </p:cNvPr>
          <p:cNvSpPr>
            <a:spLocks noGrp="1"/>
          </p:cNvSpPr>
          <p:nvPr>
            <p:ph idx="1"/>
          </p:nvPr>
        </p:nvSpPr>
        <p:spPr/>
        <p:txBody>
          <a:bodyPr>
            <a:normAutofit fontScale="55000" lnSpcReduction="20000"/>
          </a:bodyPr>
          <a:lstStyle/>
          <a:p>
            <a:pPr algn="l">
              <a:buFont typeface="+mj-lt"/>
              <a:buAutoNum type="arabicPeriod"/>
            </a:pPr>
            <a:r>
              <a:rPr lang="en-GB" b="1" i="0" dirty="0">
                <a:solidFill>
                  <a:srgbClr val="252525"/>
                </a:solidFill>
                <a:effectLst/>
                <a:latin typeface="Avenir Bold"/>
              </a:rPr>
              <a:t>Empathy is (partly) genetically determined</a:t>
            </a:r>
            <a:r>
              <a:rPr lang="en-GB" b="0" i="0" dirty="0">
                <a:solidFill>
                  <a:srgbClr val="252525"/>
                </a:solidFill>
                <a:effectLst/>
                <a:latin typeface="Avenir"/>
              </a:rPr>
              <a:t>. Like other personality traits, empathy is an ability that appears to be </a:t>
            </a:r>
            <a:r>
              <a:rPr lang="en-GB" b="0" i="0" u="sng" dirty="0">
                <a:solidFill>
                  <a:srgbClr val="AD4FE3"/>
                </a:solidFill>
                <a:effectLst/>
                <a:latin typeface="Avenir"/>
                <a:hlinkClick r:id="rId2"/>
              </a:rPr>
              <a:t>partly genetically determined</a:t>
            </a:r>
            <a:r>
              <a:rPr lang="en-GB" b="0" i="0" dirty="0">
                <a:solidFill>
                  <a:srgbClr val="252525"/>
                </a:solidFill>
                <a:effectLst/>
                <a:latin typeface="Avenir"/>
              </a:rPr>
              <a:t>. A </a:t>
            </a:r>
            <a:r>
              <a:rPr lang="en-GB" b="0" i="0" u="sng" dirty="0">
                <a:solidFill>
                  <a:srgbClr val="AD4FE3"/>
                </a:solidFill>
                <a:effectLst/>
                <a:latin typeface="Avenir"/>
                <a:hlinkClick r:id="rId3"/>
              </a:rPr>
              <a:t>study</a:t>
            </a:r>
            <a:r>
              <a:rPr lang="en-GB" b="0" i="0" dirty="0">
                <a:solidFill>
                  <a:srgbClr val="252525"/>
                </a:solidFill>
                <a:effectLst/>
                <a:latin typeface="Avenir"/>
              </a:rPr>
              <a:t> comparing empathy differences between twins and siblings found 52-57% of emotional empathy is due to genetics, compared to only 27% for cognitive empathy. Using the Empathy Eyes Test as a behavioural measure of cognitive empathy, and cross referencing this with the genetic profile of 88,056 23andMe customers, Cambridge University </a:t>
            </a:r>
            <a:r>
              <a:rPr lang="en-GB" b="0" i="0" u="sng" dirty="0">
                <a:solidFill>
                  <a:srgbClr val="AD4FE3"/>
                </a:solidFill>
                <a:effectLst/>
                <a:latin typeface="Avenir"/>
                <a:hlinkClick r:id="rId4"/>
              </a:rPr>
              <a:t>researchers</a:t>
            </a:r>
            <a:r>
              <a:rPr lang="en-GB" b="0" i="0" dirty="0">
                <a:solidFill>
                  <a:srgbClr val="252525"/>
                </a:solidFill>
                <a:effectLst/>
                <a:latin typeface="Avenir"/>
              </a:rPr>
              <a:t> have found an association between cognitive empathy in females and a genetic variation on chromosome 3 (3p26.1). A </a:t>
            </a:r>
            <a:r>
              <a:rPr lang="en-GB" b="0" i="0" u="sng" dirty="0" err="1">
                <a:solidFill>
                  <a:srgbClr val="AD4FE3"/>
                </a:solidFill>
                <a:effectLst/>
                <a:latin typeface="Avenir"/>
                <a:hlinkClick r:id="rId5"/>
              </a:rPr>
              <a:t>followup</a:t>
            </a:r>
            <a:r>
              <a:rPr lang="en-GB" b="0" i="0" u="sng" dirty="0">
                <a:solidFill>
                  <a:srgbClr val="AD4FE3"/>
                </a:solidFill>
                <a:effectLst/>
                <a:latin typeface="Avenir"/>
                <a:hlinkClick r:id="rId5"/>
              </a:rPr>
              <a:t> study</a:t>
            </a:r>
            <a:r>
              <a:rPr lang="en-GB" b="0" i="0" dirty="0">
                <a:solidFill>
                  <a:srgbClr val="252525"/>
                </a:solidFill>
                <a:effectLst/>
                <a:latin typeface="Avenir"/>
              </a:rPr>
              <a:t> using the EQ scale found that only about 10% of variation in overall empathy (emotional and cognitive) appears to be due to genetics. The study also found that women are on average more empathic than men, scoring an average of 50 (63%) vs 42 (53%) for men.</a:t>
            </a:r>
          </a:p>
          <a:p>
            <a:pPr algn="l">
              <a:buFont typeface="+mj-lt"/>
              <a:buAutoNum type="arabicPeriod"/>
            </a:pPr>
            <a:r>
              <a:rPr lang="en-GB" b="1" i="0" dirty="0">
                <a:solidFill>
                  <a:srgbClr val="252525"/>
                </a:solidFill>
                <a:effectLst/>
                <a:latin typeface="Avenir Bold"/>
              </a:rPr>
              <a:t>Empathy develops over time</a:t>
            </a:r>
            <a:r>
              <a:rPr lang="en-GB" b="0" i="0" dirty="0">
                <a:solidFill>
                  <a:srgbClr val="252525"/>
                </a:solidFill>
                <a:effectLst/>
                <a:latin typeface="Avenir"/>
              </a:rPr>
              <a:t>. Less business focused but interesting nonetheless. Empathy grows with cognitive development. For example, children under four </a:t>
            </a:r>
            <a:r>
              <a:rPr lang="en-GB" b="0" i="0" u="sng" dirty="0">
                <a:solidFill>
                  <a:srgbClr val="AD4FE3"/>
                </a:solidFill>
                <a:effectLst/>
                <a:latin typeface="Avenir"/>
                <a:hlinkClick r:id="rId6"/>
              </a:rPr>
              <a:t>typically</a:t>
            </a:r>
            <a:r>
              <a:rPr lang="en-GB" b="0" i="0" dirty="0">
                <a:solidFill>
                  <a:srgbClr val="252525"/>
                </a:solidFill>
                <a:effectLst/>
                <a:latin typeface="Avenir"/>
              </a:rPr>
              <a:t> fail simple tests assessing their ability to understand something from someone else’s perspective (cognitive empathy). At four and above, children begin to pass these tests (e.g. the </a:t>
            </a:r>
            <a:r>
              <a:rPr lang="en-GB" b="0" i="0" u="sng" dirty="0">
                <a:solidFill>
                  <a:srgbClr val="AD4FE3"/>
                </a:solidFill>
                <a:effectLst/>
                <a:latin typeface="Avenir"/>
                <a:hlinkClick r:id="rId7"/>
              </a:rPr>
              <a:t>Sally-Anne</a:t>
            </a:r>
            <a:r>
              <a:rPr lang="en-GB" b="0" i="0" dirty="0">
                <a:solidFill>
                  <a:srgbClr val="252525"/>
                </a:solidFill>
                <a:effectLst/>
                <a:latin typeface="Avenir"/>
              </a:rPr>
              <a:t> test), indicating normal cognitive development (although sufferers from autism have difficulty with perspective-taking). Jean Piaget demonstrated this with the ‘</a:t>
            </a:r>
            <a:r>
              <a:rPr lang="en-GB" b="0" i="0" u="sng" dirty="0">
                <a:solidFill>
                  <a:srgbClr val="AD4FE3"/>
                </a:solidFill>
                <a:effectLst/>
                <a:latin typeface="Avenir"/>
                <a:hlinkClick r:id="rId8"/>
              </a:rPr>
              <a:t>Three Mountains Test</a:t>
            </a:r>
            <a:r>
              <a:rPr lang="en-GB" b="0" i="0" dirty="0">
                <a:solidFill>
                  <a:srgbClr val="252525"/>
                </a:solidFill>
                <a:effectLst/>
                <a:latin typeface="Avenir"/>
              </a:rPr>
              <a:t>‘ that involves matching photos taken from vantage points on a model of three mountains to the vantage points from which they were taken. At the age of four, children cannot de-centre their view, and typically fail this test. But by the age of 7 or 8 they usually pass, indicating normal cognitive development from egocentric thinking to acquiring a perspective-taking ability.</a:t>
            </a:r>
          </a:p>
        </p:txBody>
      </p:sp>
    </p:spTree>
    <p:extLst>
      <p:ext uri="{BB962C8B-B14F-4D97-AF65-F5344CB8AC3E}">
        <p14:creationId xmlns:p14="http://schemas.microsoft.com/office/powerpoint/2010/main" val="3723440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59138C-74A1-445B-848C-3608AE871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DFD7409-66D7-4C9C-B528-E79EB64A4D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7455" y="0"/>
            <a:ext cx="5014912" cy="6862763"/>
            <a:chOff x="2928938" y="-4763"/>
            <a:chExt cx="5014912" cy="6862763"/>
          </a:xfrm>
        </p:grpSpPr>
        <p:sp>
          <p:nvSpPr>
            <p:cNvPr id="11" name="Freeform 6">
              <a:extLst>
                <a:ext uri="{FF2B5EF4-FFF2-40B4-BE49-F238E27FC236}">
                  <a16:creationId xmlns:a16="http://schemas.microsoft.com/office/drawing/2014/main" id="{87990EF0-5F6F-4FE3-AA65-8968AF2DF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12" name="Freeform 7">
              <a:extLst>
                <a:ext uri="{FF2B5EF4-FFF2-40B4-BE49-F238E27FC236}">
                  <a16:creationId xmlns:a16="http://schemas.microsoft.com/office/drawing/2014/main" id="{D78F7598-94C7-46E9-8B2A-CB44A0F252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3" name="Freeform 12">
              <a:extLst>
                <a:ext uri="{FF2B5EF4-FFF2-40B4-BE49-F238E27FC236}">
                  <a16:creationId xmlns:a16="http://schemas.microsoft.com/office/drawing/2014/main" id="{99D2CBB1-072D-4875-B7D7-CADB0ABF30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4" name="Freeform 13">
              <a:extLst>
                <a:ext uri="{FF2B5EF4-FFF2-40B4-BE49-F238E27FC236}">
                  <a16:creationId xmlns:a16="http://schemas.microsoft.com/office/drawing/2014/main" id="{58F600B4-EE22-4BA5-A764-9D80C335C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4">
              <a:extLst>
                <a:ext uri="{FF2B5EF4-FFF2-40B4-BE49-F238E27FC236}">
                  <a16:creationId xmlns:a16="http://schemas.microsoft.com/office/drawing/2014/main" id="{1E8DAD02-2B30-48A9-ACE0-2E9193091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5">
              <a:extLst>
                <a:ext uri="{FF2B5EF4-FFF2-40B4-BE49-F238E27FC236}">
                  <a16:creationId xmlns:a16="http://schemas.microsoft.com/office/drawing/2014/main" id="{F8F76B12-142C-41AF-B239-F414ABCFA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useBgFill="1">
        <p:nvSpPr>
          <p:cNvPr id="18" name="Rectangle 17">
            <a:extLst>
              <a:ext uri="{FF2B5EF4-FFF2-40B4-BE49-F238E27FC236}">
                <a16:creationId xmlns:a16="http://schemas.microsoft.com/office/drawing/2014/main" id="{225F4217-4021-45A0-812B-398F9A7A9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929" y="667808"/>
            <a:ext cx="10894142" cy="5580592"/>
          </a:xfrm>
          <a:prstGeom prst="rect">
            <a:avLst/>
          </a:prstGeom>
          <a:ln w="3175" cap="sq">
            <a:solidFill>
              <a:schemeClr val="bg1">
                <a:lumMod val="65000"/>
              </a:schemeClr>
            </a:solidFill>
            <a:miter lim="800000"/>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0811CA-310A-B539-DE64-1EE10F7682C0}"/>
              </a:ext>
            </a:extLst>
          </p:cNvPr>
          <p:cNvSpPr>
            <a:spLocks noGrp="1"/>
          </p:cNvSpPr>
          <p:nvPr>
            <p:ph type="title"/>
          </p:nvPr>
        </p:nvSpPr>
        <p:spPr>
          <a:xfrm>
            <a:off x="1189702" y="1261872"/>
            <a:ext cx="3145536" cy="4334256"/>
          </a:xfrm>
        </p:spPr>
        <p:txBody>
          <a:bodyPr>
            <a:normAutofit/>
          </a:bodyPr>
          <a:lstStyle/>
          <a:p>
            <a:pPr algn="r"/>
            <a:r>
              <a:rPr lang="en-GB" sz="3600"/>
              <a:t>Facts on Empathy</a:t>
            </a:r>
          </a:p>
        </p:txBody>
      </p:sp>
      <p:cxnSp>
        <p:nvCxnSpPr>
          <p:cNvPr id="20" name="Straight Connector 19">
            <a:extLst>
              <a:ext uri="{FF2B5EF4-FFF2-40B4-BE49-F238E27FC236}">
                <a16:creationId xmlns:a16="http://schemas.microsoft.com/office/drawing/2014/main" id="{486F4EBC-E415-40E4-A8BA-BA66F0B632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920240"/>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7FCD15E-4BC2-F725-00F0-664CB20A8F24}"/>
              </a:ext>
            </a:extLst>
          </p:cNvPr>
          <p:cNvSpPr>
            <a:spLocks noGrp="1"/>
          </p:cNvSpPr>
          <p:nvPr>
            <p:ph idx="1"/>
          </p:nvPr>
        </p:nvSpPr>
        <p:spPr>
          <a:xfrm>
            <a:off x="5007932" y="1261873"/>
            <a:ext cx="5951013" cy="4449422"/>
          </a:xfrm>
        </p:spPr>
        <p:txBody>
          <a:bodyPr>
            <a:normAutofit/>
          </a:bodyPr>
          <a:lstStyle/>
          <a:p>
            <a:pPr>
              <a:lnSpc>
                <a:spcPct val="90000"/>
              </a:lnSpc>
            </a:pPr>
            <a:r>
              <a:rPr lang="en-GB" sz="1100" b="1" i="0">
                <a:effectLst/>
                <a:latin typeface="Merriweather" panose="00000500000000000000" pitchFamily="2" charset="0"/>
              </a:rPr>
              <a:t>Empathy Contributes to Positive Outcomes - Forbes</a:t>
            </a:r>
          </a:p>
          <a:p>
            <a:pPr>
              <a:lnSpc>
                <a:spcPct val="90000"/>
              </a:lnSpc>
            </a:pPr>
            <a:r>
              <a:rPr lang="en-GB" sz="1100" b="0" i="0">
                <a:effectLst/>
                <a:latin typeface="Georgia" panose="02040502050405020303" pitchFamily="18" charset="0"/>
              </a:rPr>
              <a:t>But as we go through tough times, struggle with burnout or find it challenging to find happiness at work, empathy can be a powerful antidote and contribute to positive experiences for individuals and teams. A new study of 889 employees by </a:t>
            </a:r>
            <a:r>
              <a:rPr lang="en-GB" sz="1100" b="0" i="0" u="none" strike="noStrike">
                <a:effectLst/>
                <a:latin typeface="Georgia" panose="02040502050405020303" pitchFamily="18" charset="0"/>
                <a:hlinkClick r:id="rId2" tooltip="https://www.catalyst.org/reports/empathy-work-strategy-crisis"/>
              </a:rPr>
              <a:t>Catalyst</a:t>
            </a:r>
            <a:r>
              <a:rPr lang="en-GB" sz="1100" b="0" i="0">
                <a:effectLst/>
                <a:latin typeface="Georgia" panose="02040502050405020303" pitchFamily="18" charset="0"/>
              </a:rPr>
              <a:t> found empathy has some significant constructive effects:</a:t>
            </a:r>
          </a:p>
          <a:p>
            <a:pPr>
              <a:lnSpc>
                <a:spcPct val="90000"/>
              </a:lnSpc>
              <a:buFont typeface="Arial" panose="020B0604020202020204" pitchFamily="34" charset="0"/>
              <a:buChar char="•"/>
            </a:pPr>
            <a:r>
              <a:rPr lang="en-GB" sz="1100" b="0" i="0">
                <a:effectLst/>
                <a:latin typeface="Georgia" panose="02040502050405020303" pitchFamily="18" charset="0"/>
              </a:rPr>
              <a:t>Innovation. When people reported their leaders were empathetic, they were more likely to report they were able to be innovative—61% of employees compared to only 13% of employees with less empathetic leaders.</a:t>
            </a:r>
          </a:p>
          <a:p>
            <a:pPr>
              <a:lnSpc>
                <a:spcPct val="90000"/>
              </a:lnSpc>
              <a:buFont typeface="Arial" panose="020B0604020202020204" pitchFamily="34" charset="0"/>
              <a:buChar char="•"/>
            </a:pPr>
            <a:r>
              <a:rPr lang="en-GB" sz="1100" b="0" i="0">
                <a:effectLst/>
                <a:latin typeface="Georgia" panose="02040502050405020303" pitchFamily="18" charset="0"/>
              </a:rPr>
              <a:t>Engagement. 76% of people who experienced empathy from their leaders reported they were engaged compared with only 32% who experienced less empathy.</a:t>
            </a:r>
          </a:p>
          <a:p>
            <a:pPr>
              <a:lnSpc>
                <a:spcPct val="90000"/>
              </a:lnSpc>
              <a:buFont typeface="Arial" panose="020B0604020202020204" pitchFamily="34" charset="0"/>
              <a:buChar char="•"/>
            </a:pPr>
            <a:r>
              <a:rPr lang="en-GB" sz="1100" b="0" i="0">
                <a:effectLst/>
                <a:latin typeface="Georgia" panose="02040502050405020303" pitchFamily="18" charset="0"/>
              </a:rPr>
              <a:t>Retention. 57% of white women and 62% of women of color said they were unlikely to think of leaving their companies when they felt their life circumstances were respected and valued by their companies. However, when they didn’t feel that level of value or respect for their life circumstances, only 14% and 30% of white women and women of color respectively said they were unlikely to consider leaving.</a:t>
            </a:r>
          </a:p>
          <a:p>
            <a:pPr>
              <a:lnSpc>
                <a:spcPct val="90000"/>
              </a:lnSpc>
              <a:buFont typeface="Arial" panose="020B0604020202020204" pitchFamily="34" charset="0"/>
              <a:buChar char="•"/>
            </a:pPr>
            <a:r>
              <a:rPr lang="en-GB" sz="1100" b="0" i="0">
                <a:effectLst/>
                <a:latin typeface="Georgia" panose="02040502050405020303" pitchFamily="18" charset="0"/>
              </a:rPr>
              <a:t>Inclusivity. 50% of people with empathetic leaders reported their workplace was inclusive, compared with only 17% of those with less empathetic leadership.</a:t>
            </a:r>
          </a:p>
          <a:p>
            <a:pPr>
              <a:lnSpc>
                <a:spcPct val="90000"/>
              </a:lnSpc>
              <a:buFont typeface="Arial" panose="020B0604020202020204" pitchFamily="34" charset="0"/>
              <a:buChar char="•"/>
            </a:pPr>
            <a:r>
              <a:rPr lang="en-GB" sz="1100" b="0" i="0">
                <a:effectLst/>
                <a:latin typeface="Georgia" panose="02040502050405020303" pitchFamily="18" charset="0"/>
              </a:rPr>
              <a:t>Work-Life. When people felt their leaders were more empathetic, 86% reported they are able to navigate the demands of their work and life—successfully juggling their personal, family and work obligations. This is compared with 60% of those who perceived less empathy.</a:t>
            </a:r>
          </a:p>
          <a:p>
            <a:pPr>
              <a:lnSpc>
                <a:spcPct val="90000"/>
              </a:lnSpc>
            </a:pPr>
            <a:endParaRPr lang="en-GB" sz="1100"/>
          </a:p>
        </p:txBody>
      </p:sp>
    </p:spTree>
    <p:extLst>
      <p:ext uri="{BB962C8B-B14F-4D97-AF65-F5344CB8AC3E}">
        <p14:creationId xmlns:p14="http://schemas.microsoft.com/office/powerpoint/2010/main" val="152245728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 name="Rectangle 7">
            <a:extLst>
              <a:ext uri="{FF2B5EF4-FFF2-40B4-BE49-F238E27FC236}">
                <a16:creationId xmlns:a16="http://schemas.microsoft.com/office/drawing/2014/main" id="{F659138C-74A1-445B-848C-3608AE871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grpSp>
        <p:nvGrpSpPr>
          <p:cNvPr id="22" name="Group 9">
            <a:extLst>
              <a:ext uri="{FF2B5EF4-FFF2-40B4-BE49-F238E27FC236}">
                <a16:creationId xmlns:a16="http://schemas.microsoft.com/office/drawing/2014/main" id="{7DFD7409-66D7-4C9C-B528-E79EB64A4D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7455" y="0"/>
            <a:ext cx="5014912" cy="6862763"/>
            <a:chOff x="2928938" y="-4763"/>
            <a:chExt cx="5014912" cy="6862763"/>
          </a:xfrm>
        </p:grpSpPr>
        <p:sp>
          <p:nvSpPr>
            <p:cNvPr id="23" name="Freeform 6">
              <a:extLst>
                <a:ext uri="{FF2B5EF4-FFF2-40B4-BE49-F238E27FC236}">
                  <a16:creationId xmlns:a16="http://schemas.microsoft.com/office/drawing/2014/main" id="{87990EF0-5F6F-4FE3-AA65-8968AF2DF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24" name="Freeform 7">
              <a:extLst>
                <a:ext uri="{FF2B5EF4-FFF2-40B4-BE49-F238E27FC236}">
                  <a16:creationId xmlns:a16="http://schemas.microsoft.com/office/drawing/2014/main" id="{D78F7598-94C7-46E9-8B2A-CB44A0F252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3" name="Freeform 12">
              <a:extLst>
                <a:ext uri="{FF2B5EF4-FFF2-40B4-BE49-F238E27FC236}">
                  <a16:creationId xmlns:a16="http://schemas.microsoft.com/office/drawing/2014/main" id="{99D2CBB1-072D-4875-B7D7-CADB0ABF30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4" name="Freeform 13">
              <a:extLst>
                <a:ext uri="{FF2B5EF4-FFF2-40B4-BE49-F238E27FC236}">
                  <a16:creationId xmlns:a16="http://schemas.microsoft.com/office/drawing/2014/main" id="{58F600B4-EE22-4BA5-A764-9D80C335C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4">
              <a:extLst>
                <a:ext uri="{FF2B5EF4-FFF2-40B4-BE49-F238E27FC236}">
                  <a16:creationId xmlns:a16="http://schemas.microsoft.com/office/drawing/2014/main" id="{1E8DAD02-2B30-48A9-ACE0-2E9193091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5">
              <a:extLst>
                <a:ext uri="{FF2B5EF4-FFF2-40B4-BE49-F238E27FC236}">
                  <a16:creationId xmlns:a16="http://schemas.microsoft.com/office/drawing/2014/main" id="{F8F76B12-142C-41AF-B239-F414ABCFA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useBgFill="1">
        <p:nvSpPr>
          <p:cNvPr id="18" name="Rectangle 17">
            <a:extLst>
              <a:ext uri="{FF2B5EF4-FFF2-40B4-BE49-F238E27FC236}">
                <a16:creationId xmlns:a16="http://schemas.microsoft.com/office/drawing/2014/main" id="{225F4217-4021-45A0-812B-398F9A7A9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929" y="667808"/>
            <a:ext cx="10894142" cy="5580592"/>
          </a:xfrm>
          <a:prstGeom prst="rect">
            <a:avLst/>
          </a:prstGeom>
          <a:ln w="3175" cap="sq">
            <a:solidFill>
              <a:schemeClr val="bg1">
                <a:lumMod val="65000"/>
              </a:schemeClr>
            </a:solidFill>
            <a:miter lim="800000"/>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FFA53D-E301-EE6F-0160-CC2A99947713}"/>
              </a:ext>
            </a:extLst>
          </p:cNvPr>
          <p:cNvSpPr>
            <a:spLocks noGrp="1"/>
          </p:cNvSpPr>
          <p:nvPr>
            <p:ph type="title"/>
          </p:nvPr>
        </p:nvSpPr>
        <p:spPr>
          <a:xfrm>
            <a:off x="1189702" y="1261872"/>
            <a:ext cx="3145536" cy="4334256"/>
          </a:xfrm>
        </p:spPr>
        <p:txBody>
          <a:bodyPr>
            <a:normAutofit/>
          </a:bodyPr>
          <a:lstStyle/>
          <a:p>
            <a:pPr algn="r"/>
            <a:r>
              <a:rPr lang="en-GB" sz="3600" b="1" kern="1800" dirty="0">
                <a:effectLst/>
                <a:latin typeface="Arial" panose="020B0604020202020204" pitchFamily="34" charset="0"/>
                <a:ea typeface="Times New Roman" panose="02020603050405020304" pitchFamily="18" charset="0"/>
                <a:cs typeface="Times New Roman" panose="02020603050405020304" pitchFamily="18" charset="0"/>
              </a:rPr>
              <a:t>A Guide to Empathy in Customer Service</a:t>
            </a:r>
            <a:endParaRPr lang="en-GB" sz="3600" dirty="0"/>
          </a:p>
        </p:txBody>
      </p:sp>
      <p:cxnSp>
        <p:nvCxnSpPr>
          <p:cNvPr id="20" name="Straight Connector 19">
            <a:extLst>
              <a:ext uri="{FF2B5EF4-FFF2-40B4-BE49-F238E27FC236}">
                <a16:creationId xmlns:a16="http://schemas.microsoft.com/office/drawing/2014/main" id="{486F4EBC-E415-40E4-A8BA-BA66F0B632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920240"/>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3AD2E29-49C0-CA3C-79F3-082E86E2583F}"/>
              </a:ext>
            </a:extLst>
          </p:cNvPr>
          <p:cNvSpPr>
            <a:spLocks noGrp="1"/>
          </p:cNvSpPr>
          <p:nvPr>
            <p:ph idx="1"/>
          </p:nvPr>
        </p:nvSpPr>
        <p:spPr>
          <a:xfrm>
            <a:off x="5007932" y="1261873"/>
            <a:ext cx="5951013" cy="4449422"/>
          </a:xfrm>
        </p:spPr>
        <p:txBody>
          <a:bodyPr>
            <a:normAutofit/>
          </a:bodyPr>
          <a:lstStyle/>
          <a:p>
            <a:pPr>
              <a:lnSpc>
                <a:spcPct val="90000"/>
              </a:lnSpc>
              <a:spcAft>
                <a:spcPts val="800"/>
              </a:spcAft>
            </a:pP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i="1" kern="0" dirty="0">
                <a:effectLst/>
                <a:latin typeface="Arial" panose="020B0604020202020204" pitchFamily="34" charset="0"/>
                <a:ea typeface="Times New Roman" panose="02020603050405020304" pitchFamily="18" charset="0"/>
                <a:cs typeface="Times New Roman" panose="02020603050405020304" pitchFamily="18" charset="0"/>
              </a:rPr>
              <a:t>“I’m constantly blown away at how appreciative people are when they get human replies. Years of uncaring or even hostile support experiences have set the bar low for their expectations that they get excited by genuine answers.”</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i="1" kern="0" dirty="0">
                <a:effectLst/>
                <a:latin typeface="Arial" panose="020B0604020202020204" pitchFamily="34" charset="0"/>
                <a:ea typeface="Times New Roman" panose="02020603050405020304" pitchFamily="18" charset="0"/>
                <a:cs typeface="Times New Roman" panose="02020603050405020304" pitchFamily="18" charset="0"/>
              </a:rPr>
              <a:t>–</a:t>
            </a:r>
            <a:r>
              <a:rPr lang="en-GB" sz="800" i="1" u="sng" kern="0" dirty="0">
                <a:effectLst/>
                <a:latin typeface="Arial" panose="020B0604020202020204" pitchFamily="34" charset="0"/>
                <a:ea typeface="Times New Roman" panose="02020603050405020304" pitchFamily="18" charset="0"/>
                <a:cs typeface="Times New Roman" panose="02020603050405020304" pitchFamily="18" charset="0"/>
                <a:hlinkClick r:id="rId2"/>
              </a:rPr>
              <a:t>Micah Bennett, Zapier</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kern="0" dirty="0">
                <a:effectLst/>
                <a:latin typeface="Merriweather" panose="00000500000000000000" pitchFamily="2" charset="0"/>
                <a:ea typeface="Times New Roman" panose="02020603050405020304" pitchFamily="18" charset="0"/>
                <a:cs typeface="Times New Roman" panose="02020603050405020304" pitchFamily="18" charset="0"/>
              </a:rPr>
              <a:t>What is the one skill that everybody in customer support must have?</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kern="0" dirty="0">
                <a:effectLst/>
                <a:latin typeface="Merriweather" panose="00000500000000000000" pitchFamily="2" charset="0"/>
                <a:ea typeface="Times New Roman" panose="02020603050405020304" pitchFamily="18" charset="0"/>
                <a:cs typeface="Times New Roman" panose="02020603050405020304" pitchFamily="18" charset="0"/>
              </a:rPr>
              <a:t>Ask this to anybody who’s been in customer service for a while and ‘empathy’ would be high up on the list. We’ve put together a short guide on the importance of empathy in customer service and tips to empathize with customers better. You can use the following links to navigate through the blog.</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u="sng" kern="0" dirty="0">
                <a:effectLst/>
                <a:latin typeface="Merriweather" panose="00000500000000000000" pitchFamily="2" charset="0"/>
                <a:ea typeface="Times New Roman" panose="02020603050405020304" pitchFamily="18" charset="0"/>
                <a:cs typeface="Times New Roman" panose="02020603050405020304" pitchFamily="18" charset="0"/>
                <a:hlinkClick r:id="rId3"/>
              </a:rPr>
              <a:t>– Why is empathy important in customer service?</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u="sng" kern="0" dirty="0">
                <a:effectLst/>
                <a:latin typeface="Merriweather" panose="00000500000000000000" pitchFamily="2" charset="0"/>
                <a:ea typeface="Times New Roman" panose="02020603050405020304" pitchFamily="18" charset="0"/>
                <a:cs typeface="Times New Roman" panose="02020603050405020304" pitchFamily="18" charset="0"/>
                <a:hlinkClick r:id="rId4"/>
              </a:rPr>
              <a:t>– Identifying an empathy problem</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u="sng" kern="0" dirty="0">
                <a:effectLst/>
                <a:latin typeface="Merriweather" panose="00000500000000000000" pitchFamily="2" charset="0"/>
                <a:ea typeface="Times New Roman" panose="02020603050405020304" pitchFamily="18" charset="0"/>
                <a:cs typeface="Times New Roman" panose="02020603050405020304" pitchFamily="18" charset="0"/>
                <a:hlinkClick r:id="rId5"/>
              </a:rPr>
              <a:t>– How to build empathy?</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u="sng" kern="0" dirty="0">
                <a:effectLst/>
                <a:latin typeface="Merriweather" panose="00000500000000000000" pitchFamily="2" charset="0"/>
                <a:ea typeface="Times New Roman" panose="02020603050405020304" pitchFamily="18" charset="0"/>
                <a:cs typeface="Times New Roman" panose="02020603050405020304" pitchFamily="18" charset="0"/>
                <a:hlinkClick r:id="rId6"/>
              </a:rPr>
              <a:t>– How do you empathize with a customer?</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u="sng" kern="0" dirty="0">
                <a:effectLst/>
                <a:latin typeface="Merriweather" panose="00000500000000000000" pitchFamily="2" charset="0"/>
                <a:ea typeface="Times New Roman" panose="02020603050405020304" pitchFamily="18" charset="0"/>
                <a:cs typeface="Times New Roman" panose="02020603050405020304" pitchFamily="18" charset="0"/>
                <a:hlinkClick r:id="rId7"/>
              </a:rPr>
              <a:t>– Expressing empathy as a company</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b="1" kern="0" dirty="0">
                <a:effectLst/>
                <a:latin typeface="Arial" panose="020B0604020202020204" pitchFamily="34" charset="0"/>
                <a:ea typeface="Times New Roman" panose="02020603050405020304" pitchFamily="18" charset="0"/>
                <a:cs typeface="Times New Roman" panose="02020603050405020304" pitchFamily="18" charset="0"/>
              </a:rPr>
              <a:t>What is empathy in customer service?</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kern="0" dirty="0">
                <a:effectLst/>
                <a:latin typeface="Merriweather" panose="00000500000000000000" pitchFamily="2" charset="0"/>
                <a:ea typeface="Times New Roman" panose="02020603050405020304" pitchFamily="18" charset="0"/>
                <a:cs typeface="Times New Roman" panose="02020603050405020304" pitchFamily="18" charset="0"/>
              </a:rPr>
              <a:t>Empathy is the ability to understand and share the feelings of another. It is the act of putting yourself in someone else’s situation and seeing a problem from their point of view.</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spcAft>
                <a:spcPts val="800"/>
              </a:spcAft>
            </a:pPr>
            <a:r>
              <a:rPr lang="en-GB" sz="800" kern="0" dirty="0">
                <a:effectLst/>
                <a:latin typeface="Merriweather" panose="00000500000000000000" pitchFamily="2" charset="0"/>
                <a:ea typeface="Times New Roman" panose="02020603050405020304" pitchFamily="18" charset="0"/>
                <a:cs typeface="Times New Roman" panose="02020603050405020304" pitchFamily="18" charset="0"/>
              </a:rPr>
              <a:t>In customer service, empathy is the ability to have a human interaction with a customer where you would intentionally put yourself in the customer’s shoes to understand their issue and find the best possible solution for your customers. Let’s look at an example of empathy in customer service for a better understanding.</a:t>
            </a:r>
            <a:endParaRPr lang="en-GB"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90000"/>
              </a:lnSpc>
            </a:pPr>
            <a:endParaRPr lang="en-GB" sz="800" dirty="0"/>
          </a:p>
        </p:txBody>
      </p:sp>
    </p:spTree>
    <p:extLst>
      <p:ext uri="{BB962C8B-B14F-4D97-AF65-F5344CB8AC3E}">
        <p14:creationId xmlns:p14="http://schemas.microsoft.com/office/powerpoint/2010/main" val="381352114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6BA167A-D3C3-4EE8-8B5E-1367920872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10" name="Freeform 6">
              <a:extLst>
                <a:ext uri="{FF2B5EF4-FFF2-40B4-BE49-F238E27FC236}">
                  <a16:creationId xmlns:a16="http://schemas.microsoft.com/office/drawing/2014/main" id="{810CA83B-630E-45DB-ADCB-F026042851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1" name="Freeform 7">
              <a:extLst>
                <a:ext uri="{FF2B5EF4-FFF2-40B4-BE49-F238E27FC236}">
                  <a16:creationId xmlns:a16="http://schemas.microsoft.com/office/drawing/2014/main" id="{7A57B554-6973-429A-818B-524C03DA4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2" name="Freeform 9">
              <a:extLst>
                <a:ext uri="{FF2B5EF4-FFF2-40B4-BE49-F238E27FC236}">
                  <a16:creationId xmlns:a16="http://schemas.microsoft.com/office/drawing/2014/main" id="{89ED2DB2-F3BB-4B5E-84E6-CC259E394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3" name="Freeform 10">
              <a:extLst>
                <a:ext uri="{FF2B5EF4-FFF2-40B4-BE49-F238E27FC236}">
                  <a16:creationId xmlns:a16="http://schemas.microsoft.com/office/drawing/2014/main" id="{93816493-5723-43CF-95A9-2CDEC9B11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4" name="Freeform 11">
              <a:extLst>
                <a:ext uri="{FF2B5EF4-FFF2-40B4-BE49-F238E27FC236}">
                  <a16:creationId xmlns:a16="http://schemas.microsoft.com/office/drawing/2014/main" id="{A9964935-0316-4743-BD2E-35B86AF48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5" name="Freeform 12">
              <a:extLst>
                <a:ext uri="{FF2B5EF4-FFF2-40B4-BE49-F238E27FC236}">
                  <a16:creationId xmlns:a16="http://schemas.microsoft.com/office/drawing/2014/main" id="{2B20A700-1547-48D5-AA6F-C1473539C7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22D99B7B-EC68-CB41-1342-975FE5BC3A86}"/>
              </a:ext>
            </a:extLst>
          </p:cNvPr>
          <p:cNvSpPr>
            <a:spLocks noGrp="1"/>
          </p:cNvSpPr>
          <p:nvPr>
            <p:ph type="title"/>
          </p:nvPr>
        </p:nvSpPr>
        <p:spPr>
          <a:xfrm>
            <a:off x="2253785" y="1380068"/>
            <a:ext cx="5428432" cy="2616199"/>
          </a:xfrm>
        </p:spPr>
        <p:txBody>
          <a:bodyPr vert="horz" lIns="91440" tIns="45720" rIns="91440" bIns="45720" rtlCol="0" anchor="b">
            <a:normAutofit/>
          </a:bodyPr>
          <a:lstStyle/>
          <a:p>
            <a:pPr algn="r"/>
            <a:endParaRPr lang="en-US" sz="6000"/>
          </a:p>
        </p:txBody>
      </p:sp>
      <p:pic>
        <p:nvPicPr>
          <p:cNvPr id="4" name="Content Placeholder 3" descr="Example of empathy in customer service">
            <a:extLst>
              <a:ext uri="{FF2B5EF4-FFF2-40B4-BE49-F238E27FC236}">
                <a16:creationId xmlns:a16="http://schemas.microsoft.com/office/drawing/2014/main" id="{2802A4F1-BD21-AE20-7FAA-44562E738A12}"/>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r="1" b="10142"/>
          <a:stretch/>
        </p:blipFill>
        <p:spPr bwMode="auto">
          <a:xfrm>
            <a:off x="8127998" y="10"/>
            <a:ext cx="4064001" cy="6857990"/>
          </a:xfrm>
          <a:prstGeom prst="rect">
            <a:avLst/>
          </a:prstGeom>
          <a:noFill/>
        </p:spPr>
      </p:pic>
    </p:spTree>
    <p:extLst>
      <p:ext uri="{BB962C8B-B14F-4D97-AF65-F5344CB8AC3E}">
        <p14:creationId xmlns:p14="http://schemas.microsoft.com/office/powerpoint/2010/main" val="2649270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89DF-5208-1D4D-D317-C410BC8468B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3751EE3-4ED6-A94D-5D02-495D49B7EBF1}"/>
              </a:ext>
            </a:extLst>
          </p:cNvPr>
          <p:cNvSpPr>
            <a:spLocks noGrp="1"/>
          </p:cNvSpPr>
          <p:nvPr>
            <p:ph idx="1"/>
          </p:nvPr>
        </p:nvSpPr>
        <p:spPr/>
        <p:txBody>
          <a:bodyPr>
            <a:normAutofit fontScale="85000" lnSpcReduction="20000"/>
          </a:bodyPr>
          <a:lstStyle/>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Example of empathy in customer service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The above tweet has some powerful phrases that reveal empathy towards the customer (</a:t>
            </a:r>
            <a:r>
              <a:rPr lang="en-GB" sz="1800" kern="0" dirty="0" err="1">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a.k.a</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empathy statements – we’ll get to that in a bit). The highlighted phrases in Slack’s reply indicate that the company has truly heard the customer and taken action on their query, rather than a robotic ‘thanks for your feedback’ type of reply. That’s empathetic support in action.</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If you take a look at some of the spectacular customer service failures, you will see that they involve a (maddening) lack of empathy.</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Being empathetic towards someone doesn’t mean that you agree with them. It just means that you understand their truth. It is an important character trait for support agents to have because they have to talk to many different kinds of customers every day, solve their problems, all the while making sure that they are representing the company in the best way possible for an excellent customer experience.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208724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D716C-E1C3-0344-B0F3-4538A8C52A55}"/>
              </a:ext>
            </a:extLst>
          </p:cNvPr>
          <p:cNvSpPr>
            <a:spLocks noGrp="1"/>
          </p:cNvSpPr>
          <p:nvPr>
            <p:ph type="title"/>
          </p:nvPr>
        </p:nvSpPr>
        <p:spPr/>
        <p:txBody>
          <a:bodyPr>
            <a:normAutofit fontScale="90000"/>
          </a:bodyPr>
          <a:lstStyle/>
          <a:p>
            <a:r>
              <a:rPr lang="en-GB" sz="4000" b="1" kern="0" dirty="0">
                <a:solidFill>
                  <a:srgbClr val="3B3F47"/>
                </a:solidFill>
                <a:effectLst/>
                <a:latin typeface="Arial" panose="020B0604020202020204" pitchFamily="34" charset="0"/>
                <a:ea typeface="Times New Roman" panose="02020603050405020304" pitchFamily="18" charset="0"/>
                <a:cs typeface="Times New Roman" panose="02020603050405020304" pitchFamily="18" charset="0"/>
              </a:rPr>
              <a:t>Why is empathy important in customer service?</a:t>
            </a:r>
            <a:br>
              <a:rPr lang="en-GB" sz="4000" kern="100" dirty="0">
                <a:effectLst/>
                <a:latin typeface="Calibri" panose="020F0502020204030204" pitchFamily="34" charset="0"/>
                <a:ea typeface="Calibri" panose="020F0502020204030204" pitchFamily="34" charset="0"/>
                <a:cs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4A9D2A74-0AD2-FBD9-FDDF-8F240D411958}"/>
              </a:ext>
            </a:extLst>
          </p:cNvPr>
          <p:cNvSpPr>
            <a:spLocks noGrp="1"/>
          </p:cNvSpPr>
          <p:nvPr>
            <p:ph idx="1"/>
          </p:nvPr>
        </p:nvSpPr>
        <p:spPr/>
        <p:txBody>
          <a:bodyPr>
            <a:normAutofit fontScale="40000" lnSpcReduction="20000"/>
          </a:bodyPr>
          <a:lstStyle/>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You may wonder why it is important to spend time and effort empathizing with a single customer when you can use that time to efficiently solve multiple customer issues.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There are many benefits to expressing empathy apart from improving the </a:t>
            </a:r>
            <a:r>
              <a:rPr lang="en-GB" sz="1800" u="sng" kern="0" dirty="0">
                <a:solidFill>
                  <a:srgbClr val="5D35D7"/>
                </a:solidFill>
                <a:effectLst/>
                <a:latin typeface="Merriweather" panose="00000500000000000000" pitchFamily="2" charset="0"/>
                <a:ea typeface="Times New Roman" panose="02020603050405020304" pitchFamily="18" charset="0"/>
                <a:cs typeface="Times New Roman" panose="02020603050405020304" pitchFamily="18" charset="0"/>
                <a:hlinkClick r:id="rId2"/>
              </a:rPr>
              <a:t>customer experience</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and moving the bottom line, which is ‘making customers happy’.</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1. A better understanding of people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u="sng" kern="0" dirty="0">
                <a:solidFill>
                  <a:srgbClr val="5D35D7"/>
                </a:solidFill>
                <a:effectLst/>
                <a:latin typeface="Merriweather" panose="00000500000000000000" pitchFamily="2" charset="0"/>
                <a:ea typeface="Times New Roman" panose="02020603050405020304" pitchFamily="18" charset="0"/>
                <a:cs typeface="Times New Roman" panose="02020603050405020304" pitchFamily="18" charset="0"/>
                <a:hlinkClick r:id="rId3"/>
              </a:rPr>
              <a:t>Customer support</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is all about people. If you understand people better and know how your customer feels, you can support them better. And practicing empathy every day will help you do that. The pandemic has further stressed the importance of understanding people better and empathizing with them. Our </a:t>
            </a:r>
            <a:r>
              <a:rPr lang="en-GB" sz="1800" u="sng" kern="0" dirty="0">
                <a:solidFill>
                  <a:srgbClr val="5D35D7"/>
                </a:solidFill>
                <a:effectLst/>
                <a:latin typeface="Merriweather" panose="00000500000000000000" pitchFamily="2" charset="0"/>
                <a:ea typeface="Times New Roman" panose="02020603050405020304" pitchFamily="18" charset="0"/>
                <a:cs typeface="Times New Roman" panose="02020603050405020304" pitchFamily="18" charset="0"/>
                <a:hlinkClick r:id="rId4"/>
              </a:rPr>
              <a:t>research</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shows that 52% of consumers stopped buying from a company due to their communication, with 17% of them quoting ‘insensitivity’ in engagement as the primary reason. Challenging times faced by customers and customer service agents getting the hang of </a:t>
            </a:r>
            <a:r>
              <a:rPr lang="en-GB" sz="1800" u="sng" kern="0" dirty="0">
                <a:solidFill>
                  <a:srgbClr val="5D35D7"/>
                </a:solidFill>
                <a:effectLst/>
                <a:latin typeface="Merriweather" panose="00000500000000000000" pitchFamily="2" charset="0"/>
                <a:ea typeface="Times New Roman" panose="02020603050405020304" pitchFamily="18" charset="0"/>
                <a:cs typeface="Times New Roman" panose="02020603050405020304" pitchFamily="18" charset="0"/>
                <a:hlinkClick r:id="rId5"/>
              </a:rPr>
              <a:t>remote support </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have made the importance of empathetic support even more prominent.</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2. Noticing things that are unsaid</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Customer needs and feelings aren’t always spelled. Based on their situation, body language, voice, tone, and even website </a:t>
            </a:r>
            <a:r>
              <a:rPr lang="en-GB" sz="1800" kern="0" dirty="0" err="1">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behavior</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like rage clicks, you will be able to guess what motivated them to approach you, their unspoken pain points, what is at stake for them, and how they are feeling.</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3. Dealing easily with conflicts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When you understand what is unsaid, you can address it and make customers feel heard – which is the first step towards resolving conflicts. Empathetic support can even turn angry customers into more patient and cooperative, collaborative problem solvers.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4. Building stronger customer relationships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Showing empathy in customer service conversations triggers emotional bonds with your customers. Research by HBR indicates that emotional connections have a huge impact on human decision-making and purchase </a:t>
            </a:r>
            <a:r>
              <a:rPr lang="en-GB" sz="1800" kern="0" dirty="0" err="1">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behavior</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Empathy creates stronger ties with customers that lead to repeat purchases and increase customer loyalty.</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968291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5D599-5D5B-BD8A-C191-BCC304489FF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7F6A385-9069-4594-283D-41C0EE6B3016}"/>
              </a:ext>
            </a:extLst>
          </p:cNvPr>
          <p:cNvSpPr>
            <a:spLocks noGrp="1"/>
          </p:cNvSpPr>
          <p:nvPr>
            <p:ph idx="1"/>
          </p:nvPr>
        </p:nvSpPr>
        <p:spPr/>
        <p:txBody>
          <a:bodyPr>
            <a:normAutofit fontScale="85000" lnSpcReduction="10000"/>
          </a:bodyPr>
          <a:lstStyle/>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5. Invoking empathy from customers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There are a lot of hard conversations in customer support. </a:t>
            </a:r>
            <a:r>
              <a:rPr lang="en-GB" sz="1800" u="sng" kern="0" dirty="0">
                <a:solidFill>
                  <a:srgbClr val="5D35D7"/>
                </a:solidFill>
                <a:effectLst/>
                <a:latin typeface="Merriweather" panose="00000500000000000000" pitchFamily="2" charset="0"/>
                <a:ea typeface="Times New Roman" panose="02020603050405020304" pitchFamily="18" charset="0"/>
                <a:cs typeface="Times New Roman" panose="02020603050405020304" pitchFamily="18" charset="0"/>
                <a:hlinkClick r:id="rId2"/>
              </a:rPr>
              <a:t>Saying no to customers</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or telling them that they need to pay more to use a feature is hard enough. In such cases, a lack of empathy will make the customer mistrust your intentions. But when you are able to understand their motivation and point of view, it gets much easier to gain their trust and convince them of the value of your offering.</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6. Predicting action and reaction</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You will be able to predict a customer’s follow-up questions and proactively answer them. You will be able to predict what they will feel when they read your answer. You will also be able to understand what is holding them back from implementing an alternate solution. Knowing these things will make the conversation much easier. Empathizing and predicting customers’ next steps also helps you design effective service journeys and chatbot implementations. </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168024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36B90-438B-0E08-B86F-2F5E39D8CF17}"/>
              </a:ext>
            </a:extLst>
          </p:cNvPr>
          <p:cNvSpPr>
            <a:spLocks noGrp="1"/>
          </p:cNvSpPr>
          <p:nvPr>
            <p:ph type="title"/>
          </p:nvPr>
        </p:nvSpPr>
        <p:spPr/>
        <p:txBody>
          <a:bodyPr/>
          <a:lstStyle/>
          <a:p>
            <a:r>
              <a:rPr lang="en-GB" sz="4000" b="1" kern="0" dirty="0">
                <a:solidFill>
                  <a:srgbClr val="3B3F47"/>
                </a:solidFill>
                <a:effectLst/>
                <a:latin typeface="Arial" panose="020B0604020202020204" pitchFamily="34" charset="0"/>
                <a:ea typeface="Times New Roman" panose="02020603050405020304" pitchFamily="18" charset="0"/>
                <a:cs typeface="Times New Roman" panose="02020603050405020304" pitchFamily="18" charset="0"/>
              </a:rPr>
              <a:t>Identifying an empathy problem</a:t>
            </a:r>
            <a:br>
              <a:rPr lang="en-GB" sz="4000" kern="100" dirty="0">
                <a:effectLst/>
                <a:latin typeface="Calibri" panose="020F0502020204030204" pitchFamily="34" charset="0"/>
                <a:ea typeface="Calibri" panose="020F0502020204030204" pitchFamily="34" charset="0"/>
                <a:cs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5F4D926A-1D74-58FD-44AB-16780BB1D031}"/>
              </a:ext>
            </a:extLst>
          </p:cNvPr>
          <p:cNvSpPr>
            <a:spLocks noGrp="1"/>
          </p:cNvSpPr>
          <p:nvPr>
            <p:ph idx="1"/>
          </p:nvPr>
        </p:nvSpPr>
        <p:spPr/>
        <p:txBody>
          <a:bodyPr>
            <a:normAutofit fontScale="55000" lnSpcReduction="20000"/>
          </a:bodyPr>
          <a:lstStyle/>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As a consumer, you might have noticed that some customer service interactions make you feel happy even when you don’t end up getting what you wanted. Chances are, you were lucky enough to talk to a particularly empathetic customer service team or rep.</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But those instances are rare. A lot of individual customer service agents, teams, and even organizations suffer from a lack of empathy. Some classic signs are: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Tone mismatch between the agent and the customer – One of them is too formal and the other too informal.</a:t>
            </a:r>
            <a:endParaRPr lang="en-GB" sz="1800" kern="100" dirty="0">
              <a:solidFill>
                <a:srgbClr val="3B3F47"/>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Late responses are sent without apologies.</a:t>
            </a:r>
            <a:endParaRPr lang="en-GB" sz="1800" kern="100" dirty="0">
              <a:solidFill>
                <a:srgbClr val="3B3F47"/>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Customers being discouraged from contacting support, through words and </a:t>
            </a:r>
            <a:r>
              <a:rPr lang="en-GB" sz="1800" kern="0" dirty="0" err="1">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behavior</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t>
            </a:r>
            <a:endParaRPr lang="en-GB" sz="1800" kern="100" dirty="0">
              <a:solidFill>
                <a:srgbClr val="3B3F47"/>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Agents with the </a:t>
            </a:r>
            <a:r>
              <a:rPr lang="en-GB" sz="1800" u="sng" kern="0" dirty="0">
                <a:solidFill>
                  <a:srgbClr val="5D35D7"/>
                </a:solidFill>
                <a:effectLst/>
                <a:latin typeface="Merriweather" panose="00000500000000000000" pitchFamily="2" charset="0"/>
                <a:ea typeface="Times New Roman" panose="02020603050405020304" pitchFamily="18" charset="0"/>
                <a:cs typeface="Times New Roman" panose="02020603050405020304" pitchFamily="18" charset="0"/>
                <a:hlinkClick r:id="rId2"/>
              </a:rPr>
              <a:t>Somebody Else’s Problem</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syndrome – That is, issues getting deflected to other departments without any explanations or follow-ups.</a:t>
            </a:r>
            <a:endParaRPr lang="en-GB" sz="1800" kern="100" dirty="0">
              <a:solidFill>
                <a:srgbClr val="3B3F47"/>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Lack of </a:t>
            </a:r>
            <a:r>
              <a:rPr lang="en-GB" sz="1800" u="sng" kern="0" dirty="0">
                <a:solidFill>
                  <a:srgbClr val="5D35D7"/>
                </a:solidFill>
                <a:effectLst/>
                <a:latin typeface="Merriweather" panose="00000500000000000000" pitchFamily="2" charset="0"/>
                <a:ea typeface="Times New Roman" panose="02020603050405020304" pitchFamily="18" charset="0"/>
                <a:cs typeface="Times New Roman" panose="02020603050405020304" pitchFamily="18" charset="0"/>
                <a:hlinkClick r:id="rId3"/>
              </a:rPr>
              <a:t>customer satisfaction</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 There is no bigger sign of lack of empathy than the customer being unhappy even after getting what they want.</a:t>
            </a:r>
            <a:endParaRPr lang="en-GB" sz="1800" kern="100" dirty="0">
              <a:solidFill>
                <a:srgbClr val="3B3F47"/>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If you notice any of the above signs in your team’s interactions with customers, you might have an empathy problem.</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Not everybody is lucky enough to be born with a capacity for endless empathy. But the good news is, empathy, like any other skill, can be learned.</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607445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B586-7BBA-00FE-8139-908DF5EA736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6106FD2-2262-77B0-8939-E7715ADFF151}"/>
              </a:ext>
            </a:extLst>
          </p:cNvPr>
          <p:cNvSpPr>
            <a:spLocks noGrp="1"/>
          </p:cNvSpPr>
          <p:nvPr>
            <p:ph idx="1"/>
          </p:nvPr>
        </p:nvSpPr>
        <p:spPr/>
        <p:txBody>
          <a:bodyPr>
            <a:normAutofit fontScale="77500" lnSpcReduction="20000"/>
          </a:bodyPr>
          <a:lstStyle/>
          <a:p>
            <a:pPr>
              <a:lnSpc>
                <a:spcPct val="107000"/>
              </a:lnSpc>
              <a:spcAft>
                <a:spcPts val="800"/>
              </a:spcAft>
            </a:pPr>
            <a:r>
              <a:rPr lang="en-GB" sz="1800" b="1" kern="0" dirty="0">
                <a:solidFill>
                  <a:srgbClr val="3B3F47"/>
                </a:solidFill>
                <a:effectLst/>
                <a:latin typeface="Arial" panose="020B0604020202020204" pitchFamily="34" charset="0"/>
                <a:ea typeface="Times New Roman" panose="02020603050405020304" pitchFamily="18" charset="0"/>
                <a:cs typeface="Times New Roman" panose="02020603050405020304" pitchFamily="18" charset="0"/>
              </a:rPr>
              <a:t>How to build empathy?</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Everybody has a degree of empathy and anybody can develop and cultivate their empathy using the following ways.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Understand your biases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We instinctively make judgments based on language, </a:t>
            </a:r>
            <a:r>
              <a:rPr lang="en-GB" sz="1800" kern="0" dirty="0" err="1">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color</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gender, religion, accent, and vocabulary. We do not notice when we are acting out of bias but it makes us treat some customers differently than others.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For example, assuming that a customer would not be tech-savvy because they are older and blaming them for the issue they are facing is because of our bias. This bias creates a barrier between agents and customers.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To cultivate empathy, you need to recognize your biases. Every time you assume something about someone when there is no data to support it, contemplate and find out if that was because of a bias.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67907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F9822-C551-95AB-00F2-CF11078BAD4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00C9D28-88DC-287C-4575-D0CEB2A44F06}"/>
              </a:ext>
            </a:extLst>
          </p:cNvPr>
          <p:cNvSpPr>
            <a:spLocks noGrp="1"/>
          </p:cNvSpPr>
          <p:nvPr>
            <p:ph idx="1"/>
          </p:nvPr>
        </p:nvSpPr>
        <p:spPr/>
        <p:txBody>
          <a:bodyPr>
            <a:normAutofit fontScale="70000" lnSpcReduction="20000"/>
          </a:bodyPr>
          <a:lstStyle/>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Reading fiction and other activities to put you in someone else’s shoes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Reading fiction is a proven technique to build empathy. If you are not a big reader, meeting different kinds of people will also help cultivate empathy. You can start small by having a goal of meeting one new person every day. Each person will give you a different perspective and open up your world a little bit more.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Other activities that are generally said to increase empathy are volunteering, doing role-playing games, or even taking acting classes where you are quite literally walking in someone else’s shoes.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Maintain positivity</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Being empathetic to the first customer of the day is easy. But to treat the last customer in the same way you treated the first customer, you need to remain positive and motivated.</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 good way to stay positive is by observing yourself for a week and noting down the times you feel a positive or negative emotion and the events that trigger it. This will give you a clear idea of what activities to avoid when you have to remain positive to get through the day.</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81656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BF47B-7E80-51AA-1FA0-B2FED16D093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33EA9B2-BDFF-12E6-BB77-F314B1F280AE}"/>
              </a:ext>
            </a:extLst>
          </p:cNvPr>
          <p:cNvSpPr>
            <a:spLocks noGrp="1"/>
          </p:cNvSpPr>
          <p:nvPr>
            <p:ph idx="1"/>
          </p:nvPr>
        </p:nvSpPr>
        <p:spPr/>
        <p:txBody>
          <a:bodyPr>
            <a:normAutofit fontScale="70000" lnSpcReduction="20000"/>
          </a:bodyPr>
          <a:lstStyle/>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Understand your customer base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When you don’t understand where the customer is coming from, it’s easy to think that they are overreacting to a simple problem. It’s hard to mask those thoughts and act as if you are empathetic. To cross that barrier, you need to figure out who your customers are and what your product or service means to them. In the context of their educational background, age, company, organization structure, etc, you can really bridge the gap and cultivate empathy.</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Get feedback from your peers and customers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Sometimes, it’s very hard to objectively look at the way you deal with customers. So at the end of a conversation, you can ask your customers open-ended questions like “What do you think would have made this conversation better?”. If your customers complain about not being heard or respected, then you know that it is an empathy problem.</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Similarly, you can ask a peer who gets along well with customers for their opinion on the way you talk to them. The important thing to remember here is to receive the feedback with an open mind.</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628985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190D-40E6-F149-F393-255A908CEF6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013D0E6-B60C-E9A9-3D6F-FEC6D2A253FA}"/>
              </a:ext>
            </a:extLst>
          </p:cNvPr>
          <p:cNvSpPr>
            <a:spLocks noGrp="1"/>
          </p:cNvSpPr>
          <p:nvPr>
            <p:ph idx="1"/>
          </p:nvPr>
        </p:nvSpPr>
        <p:spPr/>
        <p:txBody>
          <a:bodyPr/>
          <a:lstStyle/>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Teach</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Another good way to cultivate empathy is by teaching. Whether it’s just teaching your kid how to swim or a friend how to juggle, teaching requires a lot of patience and practice. If you get an opportunity to teach someone about the product or service you support to your new colleague, take it up immediately. You will be able to see what new customers struggle with. You will see how each person understands things differently. This will help in viewing situations from a customer’s perspective and increase your ability to empathize with a customer.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384504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0184-D53D-9CDC-BC69-5F8AC4409F4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3075546-7A07-A18D-4F0D-58E127A6D037}"/>
              </a:ext>
            </a:extLst>
          </p:cNvPr>
          <p:cNvSpPr>
            <a:spLocks noGrp="1"/>
          </p:cNvSpPr>
          <p:nvPr>
            <p:ph idx="1"/>
          </p:nvPr>
        </p:nvSpPr>
        <p:spPr/>
        <p:txBody>
          <a:bodyPr>
            <a:normAutofit fontScale="62500" lnSpcReduction="20000"/>
          </a:bodyPr>
          <a:lstStyle/>
          <a:p>
            <a:pPr>
              <a:lnSpc>
                <a:spcPct val="107000"/>
              </a:lnSpc>
              <a:spcAft>
                <a:spcPts val="800"/>
              </a:spcAft>
            </a:pPr>
            <a:r>
              <a:rPr lang="en-GB" sz="1800" b="1" kern="0" dirty="0">
                <a:solidFill>
                  <a:srgbClr val="3B3F47"/>
                </a:solidFill>
                <a:effectLst/>
                <a:latin typeface="Arial" panose="020B0604020202020204" pitchFamily="34" charset="0"/>
                <a:ea typeface="Times New Roman" panose="02020603050405020304" pitchFamily="18" charset="0"/>
                <a:cs typeface="Times New Roman" panose="02020603050405020304" pitchFamily="18" charset="0"/>
              </a:rPr>
              <a:t>How do you empathize with a customer?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Expressing empathy is as important as cultivating it and helps you deliver great customer service. Customers need to know that you do understand how they feel through words, tone of voice, body language, and other cues depending on how the conversation is happening. Here are some ways in which you can empathize with a customer.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#1 Active listening</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Let your customers talk and actively listen to what they are saying. Do not jump to conclusions. Do not offer a solution before they can finish telling you about the problem. Let them finish talking and respond with the same words they used. Sometimes customers want to vent. Half of their issue will be solved once a customer’s concern feels heard.</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#2 Avoid sympathy </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Whether it’s a mail or tweet you are writing to your customers or a support call that you are handling, switch from mere sympathy to using more empathetic statements in your interactions. Instead of saying “That must be frustrating”, try saying “I understand how frustrating that is.” Being more personal also helps. Instead of saying “The team will resolve this issue soon”, try saying “I am working with the team to solve this issue soon”. Using empathy statements like these will go a long way in making the customer feel valued.</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888027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75BC-F259-2B86-D464-2EF2E4D75C7C}"/>
              </a:ext>
            </a:extLst>
          </p:cNvPr>
          <p:cNvSpPr>
            <a:spLocks noGrp="1"/>
          </p:cNvSpPr>
          <p:nvPr>
            <p:ph type="title"/>
          </p:nvPr>
        </p:nvSpPr>
        <p:spPr/>
        <p:txBody>
          <a:bodyPr/>
          <a:lstStyle/>
          <a:p>
            <a:endParaRPr lang="en-GB"/>
          </a:p>
        </p:txBody>
      </p:sp>
      <p:pic>
        <p:nvPicPr>
          <p:cNvPr id="4" name="Content Placeholder 3" descr="Empathy statements for customer service">
            <a:extLst>
              <a:ext uri="{FF2B5EF4-FFF2-40B4-BE49-F238E27FC236}">
                <a16:creationId xmlns:a16="http://schemas.microsoft.com/office/drawing/2014/main" id="{202B110D-6644-6145-FC81-E25496C221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931569" y="2667000"/>
            <a:ext cx="3124200" cy="3124200"/>
          </a:xfrm>
          <a:prstGeom prst="rect">
            <a:avLst/>
          </a:prstGeom>
          <a:noFill/>
          <a:ln>
            <a:noFill/>
          </a:ln>
        </p:spPr>
      </p:pic>
    </p:spTree>
    <p:extLst>
      <p:ext uri="{BB962C8B-B14F-4D97-AF65-F5344CB8AC3E}">
        <p14:creationId xmlns:p14="http://schemas.microsoft.com/office/powerpoint/2010/main" val="60954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C6A1A-399F-C437-A490-95AD44C7223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D792760-DD36-B605-A078-4DD62689A493}"/>
              </a:ext>
            </a:extLst>
          </p:cNvPr>
          <p:cNvSpPr>
            <a:spLocks noGrp="1"/>
          </p:cNvSpPr>
          <p:nvPr>
            <p:ph idx="1"/>
          </p:nvPr>
        </p:nvSpPr>
        <p:spPr/>
        <p:txBody>
          <a:bodyPr>
            <a:normAutofit fontScale="62500" lnSpcReduction="20000"/>
          </a:bodyPr>
          <a:lstStyle/>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#3 Keep your attitude in check</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Your job is not to be right. Your job is to help the customer. Whenever you have the urge to blame a customer for their mistake, take the high road without expecting their apology. This is not to say that you should let them walk all over you. You can be empathetic </a:t>
            </a:r>
            <a:r>
              <a:rPr lang="en-GB" sz="1800" i="1"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and</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stand your ground when you </a:t>
            </a:r>
            <a:r>
              <a:rPr lang="en-GB" sz="1800" u="sng" kern="0" dirty="0">
                <a:solidFill>
                  <a:srgbClr val="5D35D7"/>
                </a:solidFill>
                <a:effectLst/>
                <a:latin typeface="Merriweather" panose="00000500000000000000" pitchFamily="2" charset="0"/>
                <a:ea typeface="Times New Roman" panose="02020603050405020304" pitchFamily="18" charset="0"/>
                <a:cs typeface="Times New Roman" panose="02020603050405020304" pitchFamily="18" charset="0"/>
                <a:hlinkClick r:id="rId2"/>
              </a:rPr>
              <a:t>deal with abusive or difficult customers</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#4 Give people the benefit of doubt</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If it feels like the customer is overreacting to something, understand that it’s not personal. Maybe they are having a bad day, maybe their job depends on this issue, maybe they have a personal problem. You might not be able to pinpoint what’s bothering them but give them the benefit of the doubt.  Always work under the assumption that this interaction is going to make their day better. Actively practice giving second chances.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#5 Make customers a part of the solution</a:t>
            </a:r>
            <a:r>
              <a:rPr lang="en-GB" sz="1800"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There are times you think the customer is being unreasonable. Your product or service might not have been built to solve that customer’s problem but they might be expecting it. In such cases, ask them what they think the right solution is. This will give them a chance to put themselves in your shoes instead of being against you.</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694101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D69E3-4B46-0260-244C-5D3DB3DD785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353E735-909E-C760-B7CC-25D8501C3131}"/>
              </a:ext>
            </a:extLst>
          </p:cNvPr>
          <p:cNvSpPr>
            <a:spLocks noGrp="1"/>
          </p:cNvSpPr>
          <p:nvPr>
            <p:ph idx="1"/>
          </p:nvPr>
        </p:nvSpPr>
        <p:spPr/>
        <p:txBody>
          <a:bodyPr>
            <a:normAutofit fontScale="70000" lnSpcReduction="20000"/>
          </a:bodyPr>
          <a:lstStyle/>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#6 Be curious about your customer</a:t>
            </a:r>
            <a:r>
              <a:rPr lang="en-GB" sz="1800"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Customers hate being treated like they have been figured out when they never had a chance to explain. Expressing curiosity about what the customer is doing and how they came to face that particular problem will go a long way. Once they go from being on the offensive to revealing helpful information, they become much easier to talk to.</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#7 Look for common interests</a:t>
            </a:r>
            <a:r>
              <a:rPr lang="en-GB" sz="1800"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Take some effort to build a bond with customers. Did you notice that their desktop image is that of your </a:t>
            </a:r>
            <a:r>
              <a:rPr lang="en-GB" sz="1800" kern="0" dirty="0" err="1">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favorite</a:t>
            </a: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 band? Bring it up in your conversation. Both you and your customer will find that you can understand each other better when you have more in common than you thought.</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0" dirty="0">
                <a:solidFill>
                  <a:srgbClr val="0B1320"/>
                </a:solidFill>
                <a:effectLst/>
                <a:latin typeface="Arial" panose="020B0604020202020204" pitchFamily="34" charset="0"/>
                <a:ea typeface="Times New Roman" panose="02020603050405020304" pitchFamily="18" charset="0"/>
                <a:cs typeface="Times New Roman" panose="02020603050405020304" pitchFamily="18" charset="0"/>
              </a:rPr>
              <a:t>#8 Always be respectful</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3B3F47"/>
                </a:solidFill>
                <a:effectLst/>
                <a:latin typeface="Merriweather" panose="00000500000000000000" pitchFamily="2" charset="0"/>
                <a:ea typeface="Times New Roman" panose="02020603050405020304" pitchFamily="18" charset="0"/>
                <a:cs typeface="Times New Roman" panose="02020603050405020304" pitchFamily="18" charset="0"/>
              </a:rPr>
              <a:t>Always greet the customer with their name. It’s easy to forget manners when the conversation is taking a bad turn and has been going on for a long time. Even as you are standing up for yourself, remember to not put them down.</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043625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49272-8864-7EE9-CD17-F8FABF57A3A6}"/>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3BB10EE-2F5C-D759-7745-D13676335692}"/>
              </a:ext>
            </a:extLst>
          </p:cNvPr>
          <p:cNvSpPr>
            <a:spLocks noGrp="1"/>
          </p:cNvSpPr>
          <p:nvPr>
            <p:ph idx="1"/>
          </p:nvPr>
        </p:nvSpPr>
        <p:spPr/>
        <p:txBody>
          <a:bodyPr>
            <a:normAutofit fontScale="32500" lnSpcReduction="20000"/>
          </a:bodyPr>
          <a:lstStyle/>
          <a:p>
            <a:pPr algn="l"/>
            <a:r>
              <a:rPr lang="en-GB" b="0" i="0" dirty="0">
                <a:solidFill>
                  <a:srgbClr val="3B3F47"/>
                </a:solidFill>
                <a:effectLst/>
                <a:latin typeface="Merriweather" panose="00000500000000000000" pitchFamily="2" charset="0"/>
              </a:rPr>
              <a:t>.</a:t>
            </a:r>
          </a:p>
          <a:p>
            <a:pPr algn="l"/>
            <a:r>
              <a:rPr lang="en-GB" b="1" i="0" dirty="0">
                <a:solidFill>
                  <a:srgbClr val="3B3F47"/>
                </a:solidFill>
                <a:effectLst/>
                <a:latin typeface="Merriweather" panose="00000500000000000000" pitchFamily="2" charset="0"/>
              </a:rPr>
              <a:t>Related resource:</a:t>
            </a:r>
            <a:r>
              <a:rPr lang="en-GB" b="0" i="0" dirty="0">
                <a:solidFill>
                  <a:srgbClr val="3B3F47"/>
                </a:solidFill>
                <a:effectLst/>
                <a:latin typeface="Merriweather" panose="00000500000000000000" pitchFamily="2" charset="0"/>
              </a:rPr>
              <a:t> </a:t>
            </a:r>
            <a:r>
              <a:rPr lang="en-GB" b="0" i="0" u="none" strike="noStrike" dirty="0">
                <a:solidFill>
                  <a:srgbClr val="5D35D7"/>
                </a:solidFill>
                <a:effectLst/>
                <a:latin typeface="Merriweather" panose="00000500000000000000" pitchFamily="2" charset="0"/>
                <a:hlinkClick r:id="rId2"/>
              </a:rPr>
              <a:t>10 Tips To Improve Customer Service Communication</a:t>
            </a:r>
            <a:endParaRPr lang="en-GB" b="0" i="0" dirty="0">
              <a:solidFill>
                <a:srgbClr val="3B3F47"/>
              </a:solidFill>
              <a:effectLst/>
              <a:latin typeface="Merriweather" panose="00000500000000000000" pitchFamily="2" charset="0"/>
            </a:endParaRPr>
          </a:p>
          <a:p>
            <a:pPr algn="l"/>
            <a:r>
              <a:rPr lang="en-GB" b="1" i="0" dirty="0">
                <a:solidFill>
                  <a:srgbClr val="0B1320"/>
                </a:solidFill>
                <a:effectLst/>
                <a:latin typeface="SourceSansPro-Regular"/>
              </a:rPr>
              <a:t>#9 Be extra careful when there is a language barrier</a:t>
            </a:r>
            <a:r>
              <a:rPr lang="en-GB" b="0" i="0" dirty="0">
                <a:solidFill>
                  <a:srgbClr val="0B1320"/>
                </a:solidFill>
                <a:effectLst/>
                <a:latin typeface="SourceSansPro-Regular"/>
              </a:rPr>
              <a:t> </a:t>
            </a:r>
          </a:p>
          <a:p>
            <a:pPr algn="l"/>
            <a:r>
              <a:rPr lang="en-GB" b="0" i="0" dirty="0">
                <a:solidFill>
                  <a:srgbClr val="3B3F47"/>
                </a:solidFill>
                <a:effectLst/>
                <a:latin typeface="Merriweather" panose="00000500000000000000" pitchFamily="2" charset="0"/>
              </a:rPr>
              <a:t>You can always assume that when you are talking to someone who comes from a different culture or country, some things will be lost in translation. So be extra careful in those situations, and try to make yourself as clear as possible. You can even use emojis to express your real emotion if it comes down to it.</a:t>
            </a:r>
          </a:p>
          <a:p>
            <a:pPr algn="l"/>
            <a:r>
              <a:rPr lang="en-GB" b="1" i="0" dirty="0">
                <a:solidFill>
                  <a:srgbClr val="0B1320"/>
                </a:solidFill>
                <a:effectLst/>
                <a:latin typeface="SourceSansPro-Regular"/>
              </a:rPr>
              <a:t>#10 Respond to the customer’s tone</a:t>
            </a:r>
            <a:r>
              <a:rPr lang="en-GB" b="0" i="0" dirty="0">
                <a:solidFill>
                  <a:srgbClr val="0B1320"/>
                </a:solidFill>
                <a:effectLst/>
                <a:latin typeface="SourceSansPro-Regular"/>
              </a:rPr>
              <a:t> </a:t>
            </a:r>
          </a:p>
          <a:p>
            <a:pPr algn="l"/>
            <a:r>
              <a:rPr lang="en-GB" b="0" i="0" dirty="0">
                <a:solidFill>
                  <a:srgbClr val="3B3F47"/>
                </a:solidFill>
                <a:effectLst/>
                <a:latin typeface="Merriweather" panose="00000500000000000000" pitchFamily="2" charset="0"/>
              </a:rPr>
              <a:t>Replying to a customer’s excited email with a formal boilerplate is the worst thing you can do. So always respond to the customer’s tone. You don’t have to give up your own or your company’s personality in the process. Just have a formal-informal scale that you are comfortable with and pick a tone that’s between that scale.</a:t>
            </a:r>
          </a:p>
          <a:p>
            <a:pPr algn="l"/>
            <a:r>
              <a:rPr lang="en-GB" b="1" i="0" dirty="0">
                <a:solidFill>
                  <a:srgbClr val="0B1320"/>
                </a:solidFill>
                <a:effectLst/>
                <a:latin typeface="SourceSansPro-Regular"/>
              </a:rPr>
              <a:t>#11 Do not assume, ask</a:t>
            </a:r>
            <a:endParaRPr lang="en-GB" b="0" i="0" dirty="0">
              <a:solidFill>
                <a:srgbClr val="0B1320"/>
              </a:solidFill>
              <a:effectLst/>
              <a:latin typeface="SourceSansPro-Regular"/>
            </a:endParaRPr>
          </a:p>
          <a:p>
            <a:pPr algn="l"/>
            <a:r>
              <a:rPr lang="en-GB" b="0" i="0" dirty="0">
                <a:solidFill>
                  <a:srgbClr val="3B3F47"/>
                </a:solidFill>
                <a:effectLst/>
                <a:latin typeface="Merriweather" panose="00000500000000000000" pitchFamily="2" charset="0"/>
              </a:rPr>
              <a:t>Do not assume that customers would not know the simplest solution. Don’t tell them to refresh their screens or reboot their phones assuming they would not have done it. Always ask them if they have already done that and show that you are willing to troubleshoot further.  If you assume, not only will the resolution be delayed, the customer will also feel like they are being rushed.</a:t>
            </a:r>
          </a:p>
          <a:p>
            <a:pPr algn="l"/>
            <a:r>
              <a:rPr lang="en-GB" b="1" i="0" dirty="0">
                <a:solidFill>
                  <a:srgbClr val="0B1320"/>
                </a:solidFill>
                <a:effectLst/>
                <a:latin typeface="SourceSansPro-Regular"/>
              </a:rPr>
              <a:t>#12 Take their side when they are right</a:t>
            </a:r>
            <a:r>
              <a:rPr lang="en-GB" b="0" i="0" dirty="0">
                <a:solidFill>
                  <a:srgbClr val="0B1320"/>
                </a:solidFill>
                <a:effectLst/>
                <a:latin typeface="SourceSansPro-Regular"/>
              </a:rPr>
              <a:t> </a:t>
            </a:r>
          </a:p>
          <a:p>
            <a:pPr algn="l"/>
            <a:r>
              <a:rPr lang="en-GB" b="0" i="0" dirty="0">
                <a:solidFill>
                  <a:srgbClr val="3B3F47"/>
                </a:solidFill>
                <a:effectLst/>
                <a:latin typeface="Merriweather" panose="00000500000000000000" pitchFamily="2" charset="0"/>
              </a:rPr>
              <a:t>Don’t be afraid to take their side. When they are right and the fault is on your company’s side, go ahead and say “You’re right. We messed up.” Customers will respect you and your company for it. They will understand that you truly value your customers’ opinions.</a:t>
            </a:r>
          </a:p>
          <a:p>
            <a:endParaRPr lang="en-GB" dirty="0"/>
          </a:p>
        </p:txBody>
      </p:sp>
    </p:spTree>
    <p:extLst>
      <p:ext uri="{BB962C8B-B14F-4D97-AF65-F5344CB8AC3E}">
        <p14:creationId xmlns:p14="http://schemas.microsoft.com/office/powerpoint/2010/main" val="6361116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Facet</Template>
  <TotalTime>457</TotalTime>
  <Words>4605</Words>
  <Application>Microsoft Office PowerPoint</Application>
  <PresentationFormat>Widescreen</PresentationFormat>
  <Paragraphs>121</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Avenir</vt:lpstr>
      <vt:lpstr>Avenir Bold</vt:lpstr>
      <vt:lpstr>Calibri</vt:lpstr>
      <vt:lpstr>Corbel</vt:lpstr>
      <vt:lpstr>Georgia</vt:lpstr>
      <vt:lpstr>inherit</vt:lpstr>
      <vt:lpstr>Merriweather</vt:lpstr>
      <vt:lpstr>SourceSansPro-Regular</vt:lpstr>
      <vt:lpstr>Symbol</vt:lpstr>
      <vt:lpstr>Parallax</vt:lpstr>
      <vt:lpstr>Empathy</vt:lpstr>
      <vt:lpstr>Definitions</vt:lpstr>
      <vt:lpstr>Statistics on Empathy</vt:lpstr>
      <vt:lpstr>Statistics on Empathy</vt:lpstr>
      <vt:lpstr>Statistics on Empathy</vt:lpstr>
      <vt:lpstr>Statistics on Empathy</vt:lpstr>
      <vt:lpstr>Statistics on Empathy</vt:lpstr>
      <vt:lpstr>Statistics on Empathy</vt:lpstr>
      <vt:lpstr>Facts on Empathy</vt:lpstr>
      <vt:lpstr>A Guide to Empathy in Customer Service</vt:lpstr>
      <vt:lpstr>PowerPoint Presentation</vt:lpstr>
      <vt:lpstr>PowerPoint Presentation</vt:lpstr>
      <vt:lpstr>Why is empathy important in customer service? </vt:lpstr>
      <vt:lpstr>PowerPoint Presentation</vt:lpstr>
      <vt:lpstr>Identifying an empathy problem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dc:title>
  <dc:creator>Peter James</dc:creator>
  <cp:lastModifiedBy>Peter James</cp:lastModifiedBy>
  <cp:revision>2</cp:revision>
  <dcterms:created xsi:type="dcterms:W3CDTF">2022-12-13T08:33:13Z</dcterms:created>
  <dcterms:modified xsi:type="dcterms:W3CDTF">2023-02-20T13:04:38Z</dcterms:modified>
</cp:coreProperties>
</file>